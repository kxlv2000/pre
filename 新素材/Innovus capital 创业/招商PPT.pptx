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Garamond"/>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7D8BC6-45FD-4609-B565-9793FC79D2B1}">
  <a:tblStyle styleId="{FC7D8BC6-45FD-4609-B565-9793FC79D2B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Garamond-regular.fntdata"/><Relationship Id="rId21" Type="http://schemas.openxmlformats.org/officeDocument/2006/relationships/slide" Target="slides/slide14.xml"/><Relationship Id="rId24" Type="http://schemas.openxmlformats.org/officeDocument/2006/relationships/font" Target="fonts/Garamond-italic.fntdata"/><Relationship Id="rId23" Type="http://schemas.openxmlformats.org/officeDocument/2006/relationships/font" Target="fonts/Garamon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font" Target="fonts/Garamon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ec46b9134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ec46b9134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23bb7ce49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23bb7ce49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9ec46b9134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9ec46b9134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9ec46b913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9ec46b913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9ec46b9134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9ec46b9134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47b9890c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47b9890c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9ec46b9134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9ec46b9134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9ec46b9134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9ec46b9134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9ec46b9134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9ec46b9134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9ec46b9134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9ec46b9134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23bb7ce49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23bb7ce49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23bb7ce49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23bb7ce49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23bb7ce4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23bb7ce4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0" name="Shape 20"/>
        <p:cNvGrpSpPr/>
        <p:nvPr/>
      </p:nvGrpSpPr>
      <p:grpSpPr>
        <a:xfrm>
          <a:off x="0" y="0"/>
          <a:ext cx="0" cy="0"/>
          <a:chOff x="0" y="0"/>
          <a:chExt cx="0" cy="0"/>
        </a:xfrm>
      </p:grpSpPr>
      <p:sp>
        <p:nvSpPr>
          <p:cNvPr id="21" name="Google Shape;21;p5"/>
          <p:cNvSpPr txBox="1"/>
          <p:nvPr>
            <p:ph type="title"/>
          </p:nvPr>
        </p:nvSpPr>
        <p:spPr>
          <a:xfrm>
            <a:off x="49975" y="546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Garamond"/>
              <a:buNone/>
              <a:defRPr>
                <a:latin typeface="Garamond"/>
                <a:ea typeface="Garamond"/>
                <a:cs typeface="Garamond"/>
                <a:sym typeface="Garamond"/>
              </a:defRPr>
            </a:lvl1pPr>
            <a:lvl2pPr lvl="1">
              <a:spcBef>
                <a:spcPts val="0"/>
              </a:spcBef>
              <a:spcAft>
                <a:spcPts val="0"/>
              </a:spcAft>
              <a:buSzPts val="2800"/>
              <a:buFont typeface="Garamond"/>
              <a:buNone/>
              <a:defRPr>
                <a:latin typeface="Garamond"/>
                <a:ea typeface="Garamond"/>
                <a:cs typeface="Garamond"/>
                <a:sym typeface="Garamond"/>
              </a:defRPr>
            </a:lvl2pPr>
            <a:lvl3pPr lvl="2">
              <a:spcBef>
                <a:spcPts val="0"/>
              </a:spcBef>
              <a:spcAft>
                <a:spcPts val="0"/>
              </a:spcAft>
              <a:buSzPts val="2800"/>
              <a:buFont typeface="Garamond"/>
              <a:buNone/>
              <a:defRPr>
                <a:latin typeface="Garamond"/>
                <a:ea typeface="Garamond"/>
                <a:cs typeface="Garamond"/>
                <a:sym typeface="Garamond"/>
              </a:defRPr>
            </a:lvl3pPr>
            <a:lvl4pPr lvl="3">
              <a:spcBef>
                <a:spcPts val="0"/>
              </a:spcBef>
              <a:spcAft>
                <a:spcPts val="0"/>
              </a:spcAft>
              <a:buSzPts val="2800"/>
              <a:buFont typeface="Garamond"/>
              <a:buNone/>
              <a:defRPr>
                <a:latin typeface="Garamond"/>
                <a:ea typeface="Garamond"/>
                <a:cs typeface="Garamond"/>
                <a:sym typeface="Garamond"/>
              </a:defRPr>
            </a:lvl4pPr>
            <a:lvl5pPr lvl="4">
              <a:spcBef>
                <a:spcPts val="0"/>
              </a:spcBef>
              <a:spcAft>
                <a:spcPts val="0"/>
              </a:spcAft>
              <a:buSzPts val="2800"/>
              <a:buFont typeface="Garamond"/>
              <a:buNone/>
              <a:defRPr>
                <a:latin typeface="Garamond"/>
                <a:ea typeface="Garamond"/>
                <a:cs typeface="Garamond"/>
                <a:sym typeface="Garamond"/>
              </a:defRPr>
            </a:lvl5pPr>
            <a:lvl6pPr lvl="5">
              <a:spcBef>
                <a:spcPts val="0"/>
              </a:spcBef>
              <a:spcAft>
                <a:spcPts val="0"/>
              </a:spcAft>
              <a:buSzPts val="2800"/>
              <a:buFont typeface="Garamond"/>
              <a:buNone/>
              <a:defRPr>
                <a:latin typeface="Garamond"/>
                <a:ea typeface="Garamond"/>
                <a:cs typeface="Garamond"/>
                <a:sym typeface="Garamond"/>
              </a:defRPr>
            </a:lvl6pPr>
            <a:lvl7pPr lvl="6">
              <a:spcBef>
                <a:spcPts val="0"/>
              </a:spcBef>
              <a:spcAft>
                <a:spcPts val="0"/>
              </a:spcAft>
              <a:buSzPts val="2800"/>
              <a:buFont typeface="Garamond"/>
              <a:buNone/>
              <a:defRPr>
                <a:latin typeface="Garamond"/>
                <a:ea typeface="Garamond"/>
                <a:cs typeface="Garamond"/>
                <a:sym typeface="Garamond"/>
              </a:defRPr>
            </a:lvl7pPr>
            <a:lvl8pPr lvl="7">
              <a:spcBef>
                <a:spcPts val="0"/>
              </a:spcBef>
              <a:spcAft>
                <a:spcPts val="0"/>
              </a:spcAft>
              <a:buSzPts val="2800"/>
              <a:buFont typeface="Garamond"/>
              <a:buNone/>
              <a:defRPr>
                <a:latin typeface="Garamond"/>
                <a:ea typeface="Garamond"/>
                <a:cs typeface="Garamond"/>
                <a:sym typeface="Garamond"/>
              </a:defRPr>
            </a:lvl8pPr>
            <a:lvl9pPr lvl="8">
              <a:spcBef>
                <a:spcPts val="0"/>
              </a:spcBef>
              <a:spcAft>
                <a:spcPts val="0"/>
              </a:spcAft>
              <a:buSzPts val="2800"/>
              <a:buFont typeface="Garamond"/>
              <a:buNone/>
              <a:defRPr>
                <a:latin typeface="Garamond"/>
                <a:ea typeface="Garamond"/>
                <a:cs typeface="Garamond"/>
                <a:sym typeface="Garamond"/>
              </a:defRPr>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5"/>
          <p:cNvSpPr/>
          <p:nvPr/>
        </p:nvSpPr>
        <p:spPr>
          <a:xfrm>
            <a:off x="0" y="0"/>
            <a:ext cx="9144000" cy="6819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 name="Google Shape;24;p5"/>
          <p:cNvCxnSpPr/>
          <p:nvPr/>
        </p:nvCxnSpPr>
        <p:spPr>
          <a:xfrm>
            <a:off x="77225" y="4985600"/>
            <a:ext cx="82551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62775" y="503050"/>
            <a:ext cx="8469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7"/>
          <p:cNvSpPr txBox="1"/>
          <p:nvPr/>
        </p:nvSpPr>
        <p:spPr>
          <a:xfrm>
            <a:off x="464450" y="203200"/>
            <a:ext cx="137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4" name="Google Shape;34;p7"/>
          <p:cNvSpPr/>
          <p:nvPr/>
        </p:nvSpPr>
        <p:spPr>
          <a:xfrm>
            <a:off x="184375" y="345100"/>
            <a:ext cx="178500" cy="206400"/>
          </a:xfrm>
          <a:prstGeom prst="chevron">
            <a:avLst>
              <a:gd fmla="val 50000" name="adj"/>
            </a:avLst>
          </a:prstGeom>
          <a:solidFill>
            <a:srgbClr val="306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7"/>
          <p:cNvSpPr txBox="1"/>
          <p:nvPr/>
        </p:nvSpPr>
        <p:spPr>
          <a:xfrm>
            <a:off x="362775" y="203200"/>
            <a:ext cx="258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descr="NUS Investment Society" id="36" name="Google Shape;36;p7"/>
          <p:cNvPicPr preferRelativeResize="0"/>
          <p:nvPr/>
        </p:nvPicPr>
        <p:blipFill rotWithShape="1">
          <a:blip r:embed="rId2">
            <a:alphaModFix/>
          </a:blip>
          <a:srcRect b="0" l="0" r="0" t="0"/>
          <a:stretch/>
        </p:blipFill>
        <p:spPr>
          <a:xfrm>
            <a:off x="7829550" y="212003"/>
            <a:ext cx="1249124" cy="440625"/>
          </a:xfrm>
          <a:prstGeom prst="rect">
            <a:avLst/>
          </a:prstGeom>
          <a:noFill/>
          <a:ln>
            <a:noFill/>
          </a:ln>
        </p:spPr>
      </p:pic>
      <p:cxnSp>
        <p:nvCxnSpPr>
          <p:cNvPr id="37" name="Google Shape;37;p7"/>
          <p:cNvCxnSpPr/>
          <p:nvPr/>
        </p:nvCxnSpPr>
        <p:spPr>
          <a:xfrm>
            <a:off x="1984" y="4949351"/>
            <a:ext cx="8642400" cy="23100"/>
          </a:xfrm>
          <a:prstGeom prst="straightConnector1">
            <a:avLst/>
          </a:prstGeom>
          <a:noFill/>
          <a:ln cap="flat" cmpd="sng" w="9525">
            <a:solidFill>
              <a:srgbClr val="306E71"/>
            </a:solidFill>
            <a:prstDash val="solid"/>
            <a:round/>
            <a:headEnd len="sm" w="sm" type="none"/>
            <a:tailEnd len="sm" w="sm" type="none"/>
          </a:ln>
        </p:spPr>
      </p:cxnSp>
      <p:sp>
        <p:nvSpPr>
          <p:cNvPr id="38" name="Google Shape;38;p7"/>
          <p:cNvSpPr/>
          <p:nvPr/>
        </p:nvSpPr>
        <p:spPr>
          <a:xfrm rot="5400000">
            <a:off x="4526992" y="530745"/>
            <a:ext cx="75629" cy="9162288"/>
          </a:xfrm>
          <a:custGeom>
            <a:rect b="b" l="l" r="r" t="t"/>
            <a:pathLst>
              <a:path extrusionOk="0" h="9544050" w="3781425">
                <a:moveTo>
                  <a:pt x="3781424" y="9544035"/>
                </a:moveTo>
                <a:lnTo>
                  <a:pt x="0" y="9544035"/>
                </a:lnTo>
                <a:lnTo>
                  <a:pt x="0" y="0"/>
                </a:lnTo>
                <a:lnTo>
                  <a:pt x="3781424" y="0"/>
                </a:lnTo>
                <a:lnTo>
                  <a:pt x="3781424" y="9544035"/>
                </a:lnTo>
                <a:close/>
              </a:path>
            </a:pathLst>
          </a:custGeom>
          <a:solidFill>
            <a:srgbClr val="306E71"/>
          </a:solidFill>
          <a:ln cap="flat" cmpd="sng" w="9525">
            <a:solidFill>
              <a:srgbClr val="306E7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SimSun"/>
              <a:ea typeface="SimSun"/>
              <a:cs typeface="SimSun"/>
              <a:sym typeface="SimSun"/>
            </a:endParaRPr>
          </a:p>
        </p:txBody>
      </p:sp>
      <p:sp>
        <p:nvSpPr>
          <p:cNvPr id="39" name="Google Shape;39;p7"/>
          <p:cNvSpPr txBox="1"/>
          <p:nvPr>
            <p:ph idx="1" type="subTitle"/>
          </p:nvPr>
        </p:nvSpPr>
        <p:spPr>
          <a:xfrm>
            <a:off x="362775" y="203200"/>
            <a:ext cx="4651800" cy="4002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sp>
        <p:nvSpPr>
          <p:cNvPr id="45" name="Google Shape;45;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6" name="Google Shape;4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2" name="Google Shape;5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8" name="Google Shape;58;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60" name="Shape 60"/>
        <p:cNvGrpSpPr/>
        <p:nvPr/>
      </p:nvGrpSpPr>
      <p:grpSpPr>
        <a:xfrm>
          <a:off x="0" y="0"/>
          <a:ext cx="0" cy="0"/>
          <a:chOff x="0" y="0"/>
          <a:chExt cx="0" cy="0"/>
        </a:xfrm>
      </p:grpSpPr>
      <p:sp>
        <p:nvSpPr>
          <p:cNvPr id="61" name="Google Shape;6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2" name="Google Shape;62;p13"/>
          <p:cNvPicPr preferRelativeResize="0"/>
          <p:nvPr/>
        </p:nvPicPr>
        <p:blipFill>
          <a:blip r:embed="rId2">
            <a:alphaModFix/>
          </a:blip>
          <a:stretch>
            <a:fillRect/>
          </a:stretch>
        </p:blipFill>
        <p:spPr>
          <a:xfrm>
            <a:off x="-1" y="1533906"/>
            <a:ext cx="9144003" cy="207568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5" name="Google Shape;65;p14"/>
          <p:cNvPicPr preferRelativeResize="0"/>
          <p:nvPr/>
        </p:nvPicPr>
        <p:blipFill rotWithShape="1">
          <a:blip r:embed="rId2">
            <a:alphaModFix/>
          </a:blip>
          <a:srcRect b="0" l="0" r="0" t="0"/>
          <a:stretch/>
        </p:blipFill>
        <p:spPr>
          <a:xfrm>
            <a:off x="0" y="1533674"/>
            <a:ext cx="9144003" cy="207615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6" name="Google Shape;7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 name="Shape 77"/>
        <p:cNvGrpSpPr/>
        <p:nvPr/>
      </p:nvGrpSpPr>
      <p:grpSpPr>
        <a:xfrm>
          <a:off x="0" y="0"/>
          <a:ext cx="0" cy="0"/>
          <a:chOff x="0" y="0"/>
          <a:chExt cx="0" cy="0"/>
        </a:xfrm>
      </p:grpSpPr>
      <p:sp>
        <p:nvSpPr>
          <p:cNvPr id="78" name="Google Shape;78;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0" name="Google Shape;8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4" name="Google Shape;84;p1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5" name="Google Shape;8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2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lgn="ctr">
              <a:buNone/>
              <a:defRPr b="1">
                <a:solidFill>
                  <a:srgbClr val="510677"/>
                </a:solidFill>
                <a:latin typeface="Garamond"/>
                <a:ea typeface="Garamond"/>
                <a:cs typeface="Garamond"/>
                <a:sym typeface="Garamond"/>
              </a:defRPr>
            </a:lvl1pPr>
            <a:lvl2pPr lvl="1" rtl="0" algn="ctr">
              <a:buNone/>
              <a:defRPr b="1">
                <a:solidFill>
                  <a:srgbClr val="510677"/>
                </a:solidFill>
                <a:latin typeface="Garamond"/>
                <a:ea typeface="Garamond"/>
                <a:cs typeface="Garamond"/>
                <a:sym typeface="Garamond"/>
              </a:defRPr>
            </a:lvl2pPr>
            <a:lvl3pPr lvl="2" rtl="0" algn="ctr">
              <a:buNone/>
              <a:defRPr b="1">
                <a:solidFill>
                  <a:srgbClr val="510677"/>
                </a:solidFill>
                <a:latin typeface="Garamond"/>
                <a:ea typeface="Garamond"/>
                <a:cs typeface="Garamond"/>
                <a:sym typeface="Garamond"/>
              </a:defRPr>
            </a:lvl3pPr>
            <a:lvl4pPr lvl="3" rtl="0" algn="ctr">
              <a:buNone/>
              <a:defRPr b="1">
                <a:solidFill>
                  <a:srgbClr val="510677"/>
                </a:solidFill>
                <a:latin typeface="Garamond"/>
                <a:ea typeface="Garamond"/>
                <a:cs typeface="Garamond"/>
                <a:sym typeface="Garamond"/>
              </a:defRPr>
            </a:lvl4pPr>
            <a:lvl5pPr lvl="4" rtl="0" algn="ctr">
              <a:buNone/>
              <a:defRPr b="1">
                <a:solidFill>
                  <a:srgbClr val="510677"/>
                </a:solidFill>
                <a:latin typeface="Garamond"/>
                <a:ea typeface="Garamond"/>
                <a:cs typeface="Garamond"/>
                <a:sym typeface="Garamond"/>
              </a:defRPr>
            </a:lvl5pPr>
            <a:lvl6pPr lvl="5" rtl="0" algn="ctr">
              <a:buNone/>
              <a:defRPr b="1">
                <a:solidFill>
                  <a:srgbClr val="510677"/>
                </a:solidFill>
                <a:latin typeface="Garamond"/>
                <a:ea typeface="Garamond"/>
                <a:cs typeface="Garamond"/>
                <a:sym typeface="Garamond"/>
              </a:defRPr>
            </a:lvl6pPr>
            <a:lvl7pPr lvl="6" rtl="0" algn="ctr">
              <a:buNone/>
              <a:defRPr b="1">
                <a:solidFill>
                  <a:srgbClr val="510677"/>
                </a:solidFill>
                <a:latin typeface="Garamond"/>
                <a:ea typeface="Garamond"/>
                <a:cs typeface="Garamond"/>
                <a:sym typeface="Garamond"/>
              </a:defRPr>
            </a:lvl7pPr>
            <a:lvl8pPr lvl="7" rtl="0" algn="ctr">
              <a:buNone/>
              <a:defRPr b="1">
                <a:solidFill>
                  <a:srgbClr val="510677"/>
                </a:solidFill>
                <a:latin typeface="Garamond"/>
                <a:ea typeface="Garamond"/>
                <a:cs typeface="Garamond"/>
                <a:sym typeface="Garamond"/>
              </a:defRPr>
            </a:lvl8pPr>
            <a:lvl9pPr lvl="8" rtl="0" algn="ctr">
              <a:buNone/>
              <a:defRPr b="1">
                <a:solidFill>
                  <a:srgbClr val="510677"/>
                </a:solidFill>
                <a:latin typeface="Garamond"/>
                <a:ea typeface="Garamond"/>
                <a:cs typeface="Garamond"/>
                <a:sym typeface="Garamond"/>
              </a:defRPr>
            </a:lvl9pPr>
          </a:lstStyle>
          <a:p>
            <a:pPr indent="0" lvl="0" marL="0" rtl="0" algn="ctr">
              <a:spcBef>
                <a:spcPts val="0"/>
              </a:spcBef>
              <a:spcAft>
                <a:spcPts val="0"/>
              </a:spcAft>
              <a:buNone/>
            </a:pPr>
            <a:fld id="{00000000-1234-1234-1234-123412341234}" type="slidenum">
              <a:rPr lang="en"/>
              <a:t>‹#›</a:t>
            </a:fld>
            <a:endParaRPr/>
          </a:p>
        </p:txBody>
      </p:sp>
      <p:sp>
        <p:nvSpPr>
          <p:cNvPr id="88" name="Google Shape;88;p20"/>
          <p:cNvSpPr/>
          <p:nvPr/>
        </p:nvSpPr>
        <p:spPr>
          <a:xfrm>
            <a:off x="0" y="0"/>
            <a:ext cx="9144000" cy="566700"/>
          </a:xfrm>
          <a:prstGeom prst="rect">
            <a:avLst/>
          </a:prstGeom>
          <a:solidFill>
            <a:srgbClr val="51067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9" name="Google Shape;89;p20"/>
          <p:cNvCxnSpPr/>
          <p:nvPr/>
        </p:nvCxnSpPr>
        <p:spPr>
          <a:xfrm>
            <a:off x="47658" y="5051767"/>
            <a:ext cx="8399700" cy="0"/>
          </a:xfrm>
          <a:prstGeom prst="straightConnector1">
            <a:avLst/>
          </a:prstGeom>
          <a:noFill/>
          <a:ln cap="flat" cmpd="sng" w="9525">
            <a:solidFill>
              <a:srgbClr val="510677"/>
            </a:solidFill>
            <a:prstDash val="solid"/>
            <a:round/>
            <a:headEnd len="med" w="med" type="none"/>
            <a:tailEnd len="med" w="med" type="none"/>
          </a:ln>
        </p:spPr>
      </p:cxnSp>
      <p:sp>
        <p:nvSpPr>
          <p:cNvPr id="90" name="Google Shape;90;p20"/>
          <p:cNvSpPr txBox="1"/>
          <p:nvPr>
            <p:ph type="title"/>
          </p:nvPr>
        </p:nvSpPr>
        <p:spPr>
          <a:xfrm>
            <a:off x="0" y="0"/>
            <a:ext cx="6666600" cy="5667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2800"/>
              <a:buFont typeface="Garamond"/>
              <a:buNone/>
              <a:defRPr b="1">
                <a:solidFill>
                  <a:schemeClr val="lt1"/>
                </a:solidFill>
                <a:latin typeface="Garamond"/>
                <a:ea typeface="Garamond"/>
                <a:cs typeface="Garamond"/>
                <a:sym typeface="Garamo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 name="Shape 91"/>
        <p:cNvGrpSpPr/>
        <p:nvPr/>
      </p:nvGrpSpPr>
      <p:grpSpPr>
        <a:xfrm>
          <a:off x="0" y="0"/>
          <a:ext cx="0" cy="0"/>
          <a:chOff x="0" y="0"/>
          <a:chExt cx="0" cy="0"/>
        </a:xfrm>
      </p:grpSpPr>
      <p:sp>
        <p:nvSpPr>
          <p:cNvPr id="92" name="Google Shape;92;p2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3" name="Google Shape;93;p2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4" name="Google Shape;9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p2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7" name="Google Shape;9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 name="Shape 98"/>
        <p:cNvGrpSpPr/>
        <p:nvPr/>
      </p:nvGrpSpPr>
      <p:grpSpPr>
        <a:xfrm>
          <a:off x="0" y="0"/>
          <a:ext cx="0" cy="0"/>
          <a:chOff x="0" y="0"/>
          <a:chExt cx="0" cy="0"/>
        </a:xfrm>
      </p:grpSpPr>
      <p:sp>
        <p:nvSpPr>
          <p:cNvPr id="99" name="Google Shape;99;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1" name="Google Shape;101;p2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2" name="Google Shape;102;p2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03" name="Google Shape;10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2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7" name="Shape 107"/>
        <p:cNvGrpSpPr/>
        <p:nvPr/>
      </p:nvGrpSpPr>
      <p:grpSpPr>
        <a:xfrm>
          <a:off x="0" y="0"/>
          <a:ext cx="0" cy="0"/>
          <a:chOff x="0" y="0"/>
          <a:chExt cx="0" cy="0"/>
        </a:xfrm>
      </p:grpSpPr>
      <p:sp>
        <p:nvSpPr>
          <p:cNvPr id="108" name="Google Shape;108;p2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9" name="Google Shape;109;p2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10" name="Google Shape;11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8" name="Google Shape;68;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69" name="Google Shape;6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7"/>
          <p:cNvSpPr/>
          <p:nvPr/>
        </p:nvSpPr>
        <p:spPr>
          <a:xfrm>
            <a:off x="2051775" y="879350"/>
            <a:ext cx="5045100" cy="3395700"/>
          </a:xfrm>
          <a:prstGeom prst="rect">
            <a:avLst/>
          </a:prstGeom>
          <a:solidFill>
            <a:srgbClr val="2A322E">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2A322E"/>
              </a:solidFill>
              <a:latin typeface="Arial"/>
              <a:ea typeface="Arial"/>
              <a:cs typeface="Arial"/>
              <a:sym typeface="Arial"/>
            </a:endParaRPr>
          </a:p>
        </p:txBody>
      </p:sp>
      <p:pic>
        <p:nvPicPr>
          <p:cNvPr id="118" name="Google Shape;118;p27"/>
          <p:cNvPicPr preferRelativeResize="0"/>
          <p:nvPr/>
        </p:nvPicPr>
        <p:blipFill rotWithShape="1">
          <a:blip r:embed="rId3">
            <a:alphaModFix amt="70000"/>
          </a:blip>
          <a:srcRect b="0" l="0" r="0" t="0"/>
          <a:stretch/>
        </p:blipFill>
        <p:spPr>
          <a:xfrm>
            <a:off x="0" y="-2252"/>
            <a:ext cx="9146773" cy="5148001"/>
          </a:xfrm>
          <a:prstGeom prst="rect">
            <a:avLst/>
          </a:prstGeom>
          <a:noFill/>
          <a:ln>
            <a:noFill/>
          </a:ln>
        </p:spPr>
      </p:pic>
      <p:sp>
        <p:nvSpPr>
          <p:cNvPr id="119" name="Google Shape;119;p27"/>
          <p:cNvSpPr txBox="1"/>
          <p:nvPr>
            <p:ph type="ctrTitle"/>
          </p:nvPr>
        </p:nvSpPr>
        <p:spPr>
          <a:xfrm>
            <a:off x="311708" y="744575"/>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000">
                <a:solidFill>
                  <a:schemeClr val="lt1"/>
                </a:solidFill>
                <a:latin typeface="Cambria"/>
                <a:ea typeface="Cambria"/>
                <a:cs typeface="Cambria"/>
                <a:sym typeface="Cambria"/>
              </a:rPr>
              <a:t>Innovus Capital</a:t>
            </a:r>
            <a:endParaRPr sz="3000">
              <a:solidFill>
                <a:schemeClr val="lt1"/>
              </a:solidFill>
              <a:latin typeface="Cambria"/>
              <a:ea typeface="Cambria"/>
              <a:cs typeface="Cambria"/>
              <a:sym typeface="Cambria"/>
            </a:endParaRPr>
          </a:p>
        </p:txBody>
      </p:sp>
      <p:sp>
        <p:nvSpPr>
          <p:cNvPr id="120" name="Google Shape;120;p27"/>
          <p:cNvSpPr txBox="1"/>
          <p:nvPr>
            <p:ph idx="1" type="subTitle"/>
          </p:nvPr>
        </p:nvSpPr>
        <p:spPr>
          <a:xfrm>
            <a:off x="311700" y="2834125"/>
            <a:ext cx="8520600" cy="792600"/>
          </a:xfrm>
          <a:prstGeom prst="rect">
            <a:avLst/>
          </a:prstGeom>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lt1"/>
                </a:solidFill>
                <a:latin typeface="Cambria"/>
                <a:ea typeface="Cambria"/>
                <a:cs typeface="Cambria"/>
                <a:sym typeface="Cambria"/>
              </a:rPr>
              <a:t>Problem Statement</a:t>
            </a:r>
            <a:endParaRPr sz="2000">
              <a:solidFill>
                <a:schemeClr val="lt1"/>
              </a:solidFill>
              <a:latin typeface="Cambria"/>
              <a:ea typeface="Cambria"/>
              <a:cs typeface="Cambria"/>
              <a:sym typeface="Cambria"/>
            </a:endParaRPr>
          </a:p>
          <a:p>
            <a:pPr indent="0" lvl="0" marL="0" rtl="0" algn="ctr">
              <a:spcBef>
                <a:spcPts val="0"/>
              </a:spcBef>
              <a:spcAft>
                <a:spcPts val="0"/>
              </a:spcAft>
              <a:buNone/>
            </a:pPr>
            <a:r>
              <a:t/>
            </a:r>
            <a:endParaRPr sz="2000">
              <a:solidFill>
                <a:schemeClr val="lt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p:nvPr/>
        </p:nvSpPr>
        <p:spPr>
          <a:xfrm>
            <a:off x="164425" y="173575"/>
            <a:ext cx="3965100" cy="486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Project overview:</a:t>
            </a:r>
            <a:endParaRPr/>
          </a:p>
          <a:p>
            <a:pPr indent="0" lvl="0" marL="0" rtl="0" algn="l">
              <a:spcBef>
                <a:spcPts val="0"/>
              </a:spcBef>
              <a:spcAft>
                <a:spcPts val="0"/>
              </a:spcAft>
              <a:buNone/>
            </a:pPr>
            <a:r>
              <a:rPr lang="en"/>
              <a:t>As a new </a:t>
            </a:r>
            <a:r>
              <a:rPr lang="en"/>
              <a:t>Fintech</a:t>
            </a:r>
            <a:r>
              <a:rPr lang="en"/>
              <a:t> startup company </a:t>
            </a:r>
            <a:r>
              <a:rPr lang="en">
                <a:solidFill>
                  <a:schemeClr val="dk1"/>
                </a:solidFill>
              </a:rPr>
              <a:t>using AI algorithm to automate public equity research report, Innovus Capital have established a functional model and website. We are now seeking to expand our market outreach. However, due to constrained budget, we need to look for investors interested in our company and be cautious about cost management.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challenge is to find the potential investors and efficient marketing strategies.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6" name="Google Shape;126;p28"/>
          <p:cNvSpPr/>
          <p:nvPr/>
        </p:nvSpPr>
        <p:spPr>
          <a:xfrm>
            <a:off x="5003525" y="173575"/>
            <a:ext cx="3965100" cy="486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Deliverables:</a:t>
            </a:r>
            <a:endParaRPr/>
          </a:p>
          <a:p>
            <a:pPr indent="0" lvl="0" marL="0" rtl="0" algn="l">
              <a:spcBef>
                <a:spcPts val="0"/>
              </a:spcBef>
              <a:spcAft>
                <a:spcPts val="0"/>
              </a:spcAft>
              <a:buNone/>
            </a:pPr>
            <a:r>
              <a:rPr lang="en"/>
              <a:t>The outcome of the project should include, but not be limited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2-3 investors (individual or </a:t>
            </a:r>
            <a:r>
              <a:rPr lang="en"/>
              <a:t>institution</a:t>
            </a:r>
            <a:r>
              <a:rPr lang="en"/>
              <a:t>) that will be interested and why they might be interested.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2-3 marketing strategies. Detailed description of how they should be executed, a breakdown of budget estimation and the expected outcome of the respective strategies.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holistic report the best strategy of Innovus Capital and why, include any additional information and recommendations through having analyzed the findings from the above tasks.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idx="4294967295" type="title"/>
          </p:nvPr>
        </p:nvSpPr>
        <p:spPr>
          <a:xfrm>
            <a:off x="914400" y="2285400"/>
            <a:ext cx="77058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en" sz="3000">
                <a:solidFill>
                  <a:srgbClr val="DFE8E5"/>
                </a:solidFill>
                <a:latin typeface="Cambria"/>
                <a:ea typeface="Cambria"/>
                <a:cs typeface="Cambria"/>
                <a:sym typeface="Cambria"/>
              </a:rPr>
              <a:t>01	About Us   </a:t>
            </a:r>
            <a:endParaRPr sz="3000">
              <a:solidFill>
                <a:srgbClr val="DFE8E5"/>
              </a:solidFill>
              <a:latin typeface="Cambria"/>
              <a:ea typeface="Cambria"/>
              <a:cs typeface="Cambria"/>
              <a:sym typeface="Cambria"/>
            </a:endParaRPr>
          </a:p>
          <a:p>
            <a:pPr indent="0" lvl="0" marL="0" rtl="0" algn="l">
              <a:spcBef>
                <a:spcPts val="1200"/>
              </a:spcBef>
              <a:spcAft>
                <a:spcPts val="0"/>
              </a:spcAft>
              <a:buSzPts val="990"/>
              <a:buNone/>
            </a:pPr>
            <a:r>
              <a:t/>
            </a:r>
            <a:endParaRPr sz="2520">
              <a:solidFill>
                <a:srgbClr val="DFE8E5"/>
              </a:solidFill>
              <a:latin typeface="Cambria"/>
              <a:ea typeface="Cambria"/>
              <a:cs typeface="Cambria"/>
              <a:sym typeface="Cambria"/>
            </a:endParaRPr>
          </a:p>
        </p:txBody>
      </p:sp>
      <p:cxnSp>
        <p:nvCxnSpPr>
          <p:cNvPr id="132" name="Google Shape;132;p29"/>
          <p:cNvCxnSpPr/>
          <p:nvPr/>
        </p:nvCxnSpPr>
        <p:spPr>
          <a:xfrm>
            <a:off x="1761350" y="2876250"/>
            <a:ext cx="5733300" cy="0"/>
          </a:xfrm>
          <a:prstGeom prst="straightConnector1">
            <a:avLst/>
          </a:prstGeom>
          <a:noFill/>
          <a:ln cap="flat" cmpd="sng" w="9525">
            <a:solidFill>
              <a:srgbClr val="DFE8E5"/>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49975" y="5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ABOUT US</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txBox="1"/>
          <p:nvPr/>
        </p:nvSpPr>
        <p:spPr>
          <a:xfrm>
            <a:off x="401150" y="992625"/>
            <a:ext cx="7998300" cy="2231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Garamond"/>
              <a:buChar char="●"/>
            </a:pPr>
            <a:r>
              <a:rPr b="1" lang="en">
                <a:latin typeface="Garamond"/>
                <a:ea typeface="Garamond"/>
                <a:cs typeface="Garamond"/>
                <a:sym typeface="Garamond"/>
              </a:rPr>
              <a:t>Who We Are</a:t>
            </a:r>
            <a:endParaRPr b="1">
              <a:latin typeface="Garamond"/>
              <a:ea typeface="Garamond"/>
              <a:cs typeface="Garamond"/>
              <a:sym typeface="Garamond"/>
            </a:endParaRPr>
          </a:p>
          <a:p>
            <a:pPr indent="-317500" lvl="1" marL="914400" rtl="0" algn="l">
              <a:spcBef>
                <a:spcPts val="0"/>
              </a:spcBef>
              <a:spcAft>
                <a:spcPts val="0"/>
              </a:spcAft>
              <a:buSzPts val="1400"/>
              <a:buFont typeface="Garamond"/>
              <a:buChar char="○"/>
            </a:pPr>
            <a:r>
              <a:rPr lang="en">
                <a:latin typeface="Garamond"/>
                <a:ea typeface="Garamond"/>
                <a:cs typeface="Garamond"/>
                <a:sym typeface="Garamond"/>
              </a:rPr>
              <a:t>Fintech Start-up, using AI algorithm to automate </a:t>
            </a:r>
            <a:r>
              <a:rPr lang="en">
                <a:latin typeface="Garamond"/>
                <a:ea typeface="Garamond"/>
                <a:cs typeface="Garamond"/>
                <a:sym typeface="Garamond"/>
              </a:rPr>
              <a:t>public equity research report</a:t>
            </a:r>
            <a:endParaRPr>
              <a:latin typeface="Garamond"/>
              <a:ea typeface="Garamond"/>
              <a:cs typeface="Garamond"/>
              <a:sym typeface="Garamond"/>
            </a:endParaRPr>
          </a:p>
          <a:p>
            <a:pPr indent="-317500" lvl="1" marL="914400" rtl="0" algn="l">
              <a:spcBef>
                <a:spcPts val="0"/>
              </a:spcBef>
              <a:spcAft>
                <a:spcPts val="0"/>
              </a:spcAft>
              <a:buSzPts val="1400"/>
              <a:buFont typeface="Garamond"/>
              <a:buChar char="○"/>
            </a:pPr>
            <a:r>
              <a:rPr lang="en">
                <a:latin typeface="Garamond"/>
                <a:ea typeface="Garamond"/>
                <a:cs typeface="Garamond"/>
                <a:sym typeface="Garamond"/>
              </a:rPr>
              <a:t>Our Mission: Make quality and affordable investment recommendations available to retail investors like you and me</a:t>
            </a:r>
            <a:endParaRPr>
              <a:latin typeface="Garamond"/>
              <a:ea typeface="Garamond"/>
              <a:cs typeface="Garamond"/>
              <a:sym typeface="Garamond"/>
            </a:endParaRPr>
          </a:p>
          <a:p>
            <a:pPr indent="-317500" lvl="1" marL="914400" rtl="0" algn="l">
              <a:spcBef>
                <a:spcPts val="0"/>
              </a:spcBef>
              <a:spcAft>
                <a:spcPts val="0"/>
              </a:spcAft>
              <a:buSzPts val="1400"/>
              <a:buFont typeface="Garamond"/>
              <a:buChar char="○"/>
            </a:pPr>
            <a:r>
              <a:rPr lang="en">
                <a:latin typeface="Garamond"/>
                <a:ea typeface="Garamond"/>
                <a:cs typeface="Garamond"/>
                <a:sym typeface="Garamond"/>
              </a:rPr>
              <a:t>Our Vision: A more efficient market with our effort to democratise quality investment recommendations</a:t>
            </a:r>
            <a:endParaRPr>
              <a:latin typeface="Garamond"/>
              <a:ea typeface="Garamond"/>
              <a:cs typeface="Garamond"/>
              <a:sym typeface="Garamond"/>
            </a:endParaRPr>
          </a:p>
          <a:p>
            <a:pPr indent="0" lvl="0" marL="914400" rtl="0" algn="l">
              <a:spcBef>
                <a:spcPts val="0"/>
              </a:spcBef>
              <a:spcAft>
                <a:spcPts val="0"/>
              </a:spcAft>
              <a:buNone/>
            </a:pPr>
            <a:r>
              <a:t/>
            </a:r>
            <a:endParaRPr>
              <a:latin typeface="Garamond"/>
              <a:ea typeface="Garamond"/>
              <a:cs typeface="Garamond"/>
              <a:sym typeface="Garamond"/>
            </a:endParaRPr>
          </a:p>
          <a:p>
            <a:pPr indent="0" lvl="0" marL="0" rtl="0" algn="l">
              <a:spcBef>
                <a:spcPts val="0"/>
              </a:spcBef>
              <a:spcAft>
                <a:spcPts val="0"/>
              </a:spcAft>
              <a:buNone/>
            </a:pPr>
            <a:r>
              <a:t/>
            </a:r>
            <a:endParaRPr>
              <a:latin typeface="Garamond"/>
              <a:ea typeface="Garamond"/>
              <a:cs typeface="Garamond"/>
              <a:sym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49975" y="5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ABOUT US</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6" name="Google Shape;146;p31"/>
          <p:cNvGraphicFramePr/>
          <p:nvPr/>
        </p:nvGraphicFramePr>
        <p:xfrm>
          <a:off x="527650" y="968900"/>
          <a:ext cx="3000000" cy="3000000"/>
        </p:xfrm>
        <a:graphic>
          <a:graphicData uri="http://schemas.openxmlformats.org/drawingml/2006/table">
            <a:tbl>
              <a:tblPr>
                <a:noFill/>
                <a:tableStyleId>{FC7D8BC6-45FD-4609-B565-9793FC79D2B1}</a:tableStyleId>
              </a:tblPr>
              <a:tblGrid>
                <a:gridCol w="2112100"/>
                <a:gridCol w="6168450"/>
              </a:tblGrid>
              <a:tr h="368825">
                <a:tc gridSpan="2">
                  <a:txBody>
                    <a:bodyPr/>
                    <a:lstStyle/>
                    <a:p>
                      <a:pPr indent="0" lvl="0" marL="0" rtl="0" algn="l">
                        <a:spcBef>
                          <a:spcPts val="0"/>
                        </a:spcBef>
                        <a:spcAft>
                          <a:spcPts val="0"/>
                        </a:spcAft>
                        <a:buNone/>
                      </a:pPr>
                      <a:r>
                        <a:rPr lang="en" sz="1800"/>
                        <a:t>What problems are we solving?</a:t>
                      </a:r>
                      <a:endParaRPr sz="1800"/>
                    </a:p>
                  </a:txBody>
                  <a:tcPr marT="91425" marB="91425" marR="91425" marL="91425"/>
                </a:tc>
                <a:tc hMerge="1"/>
              </a:tr>
              <a:tr h="618225">
                <a:tc>
                  <a:txBody>
                    <a:bodyPr/>
                    <a:lstStyle/>
                    <a:p>
                      <a:pPr indent="0" lvl="0" marL="0" rtl="0" algn="l">
                        <a:lnSpc>
                          <a:spcPct val="115000"/>
                        </a:lnSpc>
                        <a:spcBef>
                          <a:spcPts val="0"/>
                        </a:spcBef>
                        <a:spcAft>
                          <a:spcPts val="0"/>
                        </a:spcAft>
                        <a:buNone/>
                      </a:pPr>
                      <a:r>
                        <a:rPr lang="en" sz="1000">
                          <a:solidFill>
                            <a:srgbClr val="000000"/>
                          </a:solidFill>
                        </a:rPr>
                        <a:t>Difficulty in Real-Time Market Tracking:</a:t>
                      </a:r>
                      <a:endParaRPr sz="13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000000"/>
                          </a:solidFill>
                        </a:rPr>
                        <a:t>Individual investors often find it challenging to keep abreast of market dynamics in real-time, leading to a relative disadvantage compared to institutional investors.</a:t>
                      </a:r>
                      <a:endParaRPr sz="1300"/>
                    </a:p>
                  </a:txBody>
                  <a:tcPr marT="91425" marB="91425" marR="91425" marL="91425"/>
                </a:tc>
              </a:tr>
              <a:tr h="618225">
                <a:tc>
                  <a:txBody>
                    <a:bodyPr/>
                    <a:lstStyle/>
                    <a:p>
                      <a:pPr indent="0" lvl="0" marL="0" rtl="0" algn="l">
                        <a:lnSpc>
                          <a:spcPct val="115000"/>
                        </a:lnSpc>
                        <a:spcBef>
                          <a:spcPts val="0"/>
                        </a:spcBef>
                        <a:spcAft>
                          <a:spcPts val="0"/>
                        </a:spcAft>
                        <a:buNone/>
                      </a:pPr>
                      <a:r>
                        <a:rPr lang="en" sz="1000">
                          <a:solidFill>
                            <a:srgbClr val="000000"/>
                          </a:solidFill>
                        </a:rPr>
                        <a:t>Inaccessibility to Comprehensive Information at an Affordable Price:</a:t>
                      </a:r>
                      <a:endParaRPr sz="13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000000"/>
                          </a:solidFill>
                        </a:rPr>
                        <a:t>Implementing arbitrage strategies requires timely access to market information, which is often available only to institutional clients or at a high cost. By the time high-quality industry reports are publicly available, the information may already be outdated.</a:t>
                      </a:r>
                      <a:endParaRPr sz="1300"/>
                    </a:p>
                  </a:txBody>
                  <a:tcPr marT="91425" marB="91425" marR="91425" marL="91425"/>
                </a:tc>
              </a:tr>
              <a:tr h="618225">
                <a:tc>
                  <a:txBody>
                    <a:bodyPr/>
                    <a:lstStyle/>
                    <a:p>
                      <a:pPr indent="0" lvl="0" marL="0" rtl="0" algn="l">
                        <a:lnSpc>
                          <a:spcPct val="115000"/>
                        </a:lnSpc>
                        <a:spcBef>
                          <a:spcPts val="0"/>
                        </a:spcBef>
                        <a:spcAft>
                          <a:spcPts val="0"/>
                        </a:spcAft>
                        <a:buNone/>
                      </a:pPr>
                      <a:r>
                        <a:rPr lang="en" sz="1000">
                          <a:solidFill>
                            <a:srgbClr val="000000"/>
                          </a:solidFill>
                        </a:rPr>
                        <a:t>Time-Consuming and Labor-Intensive Market Research: </a:t>
                      </a:r>
                      <a:endParaRPr sz="13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000000"/>
                          </a:solidFill>
                        </a:rPr>
                        <a:t>Retail investors typically lack the resources to devote significant time and effort to collecting, analyzing, and interpreting information, putting them at a disadvantage.</a:t>
                      </a:r>
                      <a:endParaRPr sz="1300"/>
                    </a:p>
                  </a:txBody>
                  <a:tcPr marT="91425" marB="91425" marR="91425" marL="91425"/>
                </a:tc>
              </a:tr>
              <a:tr h="618225">
                <a:tc>
                  <a:txBody>
                    <a:bodyPr/>
                    <a:lstStyle/>
                    <a:p>
                      <a:pPr indent="0" lvl="0" marL="0" rtl="0" algn="l">
                        <a:lnSpc>
                          <a:spcPct val="115000"/>
                        </a:lnSpc>
                        <a:spcBef>
                          <a:spcPts val="0"/>
                        </a:spcBef>
                        <a:spcAft>
                          <a:spcPts val="0"/>
                        </a:spcAft>
                        <a:buNone/>
                      </a:pPr>
                      <a:r>
                        <a:rPr lang="en" sz="1000">
                          <a:solidFill>
                            <a:srgbClr val="000000"/>
                          </a:solidFill>
                        </a:rPr>
                        <a:t>Additional Costs Associated with Asset Management Companies:</a:t>
                      </a:r>
                      <a:endParaRPr sz="13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000000"/>
                          </a:solidFill>
                        </a:rPr>
                        <a:t>Entrusting funds to asset management firms can entail annual management fees (1% to 2%) and a portion of capital gains (10% to 20%) taken by fund managers.</a:t>
                      </a:r>
                      <a:endParaRPr sz="1300"/>
                    </a:p>
                  </a:txBody>
                  <a:tcPr marT="91425" marB="91425" marR="91425" marL="91425"/>
                </a:tc>
              </a:tr>
              <a:tr h="618225">
                <a:tc>
                  <a:txBody>
                    <a:bodyPr/>
                    <a:lstStyle/>
                    <a:p>
                      <a:pPr indent="0" lvl="0" marL="0" rtl="0" algn="l">
                        <a:lnSpc>
                          <a:spcPct val="115000"/>
                        </a:lnSpc>
                        <a:spcBef>
                          <a:spcPts val="0"/>
                        </a:spcBef>
                        <a:spcAft>
                          <a:spcPts val="0"/>
                        </a:spcAft>
                        <a:buNone/>
                      </a:pPr>
                      <a:r>
                        <a:rPr lang="en" sz="1000">
                          <a:solidFill>
                            <a:srgbClr val="000000"/>
                          </a:solidFill>
                        </a:rPr>
                        <a:t>Limited Access to High-Quality Research Reports:</a:t>
                      </a:r>
                      <a:endParaRPr sz="1300"/>
                    </a:p>
                  </a:txBody>
                  <a:tcPr marT="91425" marB="91425" marR="91425" marL="91425"/>
                </a:tc>
                <a:tc>
                  <a:txBody>
                    <a:bodyPr/>
                    <a:lstStyle/>
                    <a:p>
                      <a:pPr indent="0" lvl="0" marL="0" rtl="0" algn="l">
                        <a:lnSpc>
                          <a:spcPct val="115000"/>
                        </a:lnSpc>
                        <a:spcBef>
                          <a:spcPts val="0"/>
                        </a:spcBef>
                        <a:spcAft>
                          <a:spcPts val="0"/>
                        </a:spcAft>
                        <a:buNone/>
                      </a:pPr>
                      <a:r>
                        <a:rPr lang="en" sz="1000">
                          <a:solidFill>
                            <a:srgbClr val="000000"/>
                          </a:solidFill>
                        </a:rPr>
                        <a:t>Retail investors often cannot access high-quality research from sell-side and buy-side institutions. On the other hand, the quality of reports available for individual purchase is questionable, and the information may be outdated by the time it is obtained. There is a need for an efficient, convenient, and accurate research institution to meet this demand.</a:t>
                      </a:r>
                      <a:endParaRPr sz="13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type="title"/>
          </p:nvPr>
        </p:nvSpPr>
        <p:spPr>
          <a:xfrm>
            <a:off x="49975" y="5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ABOUT US</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152" name="Google Shape;15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32"/>
          <p:cNvSpPr txBox="1"/>
          <p:nvPr/>
        </p:nvSpPr>
        <p:spPr>
          <a:xfrm>
            <a:off x="643500" y="1342950"/>
            <a:ext cx="7857000" cy="24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Garamond"/>
                <a:ea typeface="Garamond"/>
                <a:cs typeface="Garamond"/>
                <a:sym typeface="Garamond"/>
              </a:rPr>
              <a:t>How are we solving the problems?</a:t>
            </a:r>
            <a:endParaRPr b="1" sz="1800">
              <a:solidFill>
                <a:schemeClr val="dk1"/>
              </a:solidFill>
              <a:latin typeface="Garamond"/>
              <a:ea typeface="Garamond"/>
              <a:cs typeface="Garamond"/>
              <a:sym typeface="Garamond"/>
            </a:endParaRPr>
          </a:p>
          <a:p>
            <a:pPr indent="0" lvl="0" marL="0" rtl="0" algn="l">
              <a:spcBef>
                <a:spcPts val="0"/>
              </a:spcBef>
              <a:spcAft>
                <a:spcPts val="0"/>
              </a:spcAft>
              <a:buNone/>
            </a:pPr>
            <a:r>
              <a:t/>
            </a:r>
            <a:endParaRPr sz="1800">
              <a:solidFill>
                <a:schemeClr val="dk1"/>
              </a:solidFill>
              <a:latin typeface="Garamond"/>
              <a:ea typeface="Garamond"/>
              <a:cs typeface="Garamond"/>
              <a:sym typeface="Garamond"/>
            </a:endParaRPr>
          </a:p>
          <a:p>
            <a:pPr indent="-317500" lvl="0" marL="457200" rtl="0" algn="l">
              <a:lnSpc>
                <a:spcPct val="115000"/>
              </a:lnSpc>
              <a:spcBef>
                <a:spcPts val="0"/>
              </a:spcBef>
              <a:spcAft>
                <a:spcPts val="0"/>
              </a:spcAft>
              <a:buClr>
                <a:schemeClr val="dk1"/>
              </a:buClr>
              <a:buSzPts val="1400"/>
              <a:buFont typeface="Garamond"/>
              <a:buChar char="●"/>
            </a:pPr>
            <a:r>
              <a:rPr lang="en">
                <a:solidFill>
                  <a:schemeClr val="dk1"/>
                </a:solidFill>
                <a:latin typeface="Garamond"/>
                <a:ea typeface="Garamond"/>
                <a:cs typeface="Garamond"/>
                <a:sym typeface="Garamond"/>
              </a:rPr>
              <a:t>With machine learning methods and AI algorithms,generate market reports that are more accurate, relevant and affordable</a:t>
            </a:r>
            <a:endParaRPr>
              <a:solidFill>
                <a:schemeClr val="dk1"/>
              </a:solidFill>
              <a:latin typeface="Garamond"/>
              <a:ea typeface="Garamond"/>
              <a:cs typeface="Garamond"/>
              <a:sym typeface="Garamond"/>
            </a:endParaRPr>
          </a:p>
          <a:p>
            <a:pPr indent="0" lvl="0" marL="457200" rtl="0" algn="l">
              <a:lnSpc>
                <a:spcPct val="115000"/>
              </a:lnSpc>
              <a:spcBef>
                <a:spcPts val="0"/>
              </a:spcBef>
              <a:spcAft>
                <a:spcPts val="0"/>
              </a:spcAft>
              <a:buNone/>
            </a:pPr>
            <a:r>
              <a:t/>
            </a:r>
            <a:endParaRPr>
              <a:solidFill>
                <a:schemeClr val="dk1"/>
              </a:solidFill>
              <a:latin typeface="Garamond"/>
              <a:ea typeface="Garamond"/>
              <a:cs typeface="Garamond"/>
              <a:sym typeface="Garamond"/>
            </a:endParaRPr>
          </a:p>
          <a:p>
            <a:pPr indent="-317500" lvl="0" marL="457200" rtl="0" algn="l">
              <a:lnSpc>
                <a:spcPct val="115000"/>
              </a:lnSpc>
              <a:spcBef>
                <a:spcPts val="0"/>
              </a:spcBef>
              <a:spcAft>
                <a:spcPts val="0"/>
              </a:spcAft>
              <a:buClr>
                <a:schemeClr val="dk1"/>
              </a:buClr>
              <a:buSzPts val="1400"/>
              <a:buFont typeface="Garamond"/>
              <a:buChar char="●"/>
            </a:pPr>
            <a:r>
              <a:rPr lang="en">
                <a:solidFill>
                  <a:schemeClr val="dk1"/>
                </a:solidFill>
                <a:latin typeface="Garamond"/>
                <a:ea typeface="Garamond"/>
                <a:cs typeface="Garamond"/>
                <a:sym typeface="Garamond"/>
              </a:rPr>
              <a:t>Analyse latest events, current price and other information to provide buy/sell recommendations</a:t>
            </a:r>
            <a:endParaRPr>
              <a:solidFill>
                <a:schemeClr val="dk1"/>
              </a:solidFill>
              <a:latin typeface="Garamond"/>
              <a:ea typeface="Garamond"/>
              <a:cs typeface="Garamond"/>
              <a:sym typeface="Garamond"/>
            </a:endParaRPr>
          </a:p>
          <a:p>
            <a:pPr indent="0" lvl="0" marL="457200" rtl="0" algn="l">
              <a:lnSpc>
                <a:spcPct val="115000"/>
              </a:lnSpc>
              <a:spcBef>
                <a:spcPts val="0"/>
              </a:spcBef>
              <a:spcAft>
                <a:spcPts val="0"/>
              </a:spcAft>
              <a:buNone/>
            </a:pPr>
            <a:r>
              <a:t/>
            </a:r>
            <a:endParaRPr>
              <a:solidFill>
                <a:schemeClr val="dk1"/>
              </a:solidFill>
              <a:latin typeface="Garamond"/>
              <a:ea typeface="Garamond"/>
              <a:cs typeface="Garamond"/>
              <a:sym typeface="Garamond"/>
            </a:endParaRPr>
          </a:p>
          <a:p>
            <a:pPr indent="-317500" lvl="0" marL="457200" rtl="0" algn="l">
              <a:lnSpc>
                <a:spcPct val="115000"/>
              </a:lnSpc>
              <a:spcBef>
                <a:spcPts val="0"/>
              </a:spcBef>
              <a:spcAft>
                <a:spcPts val="0"/>
              </a:spcAft>
              <a:buClr>
                <a:schemeClr val="dk1"/>
              </a:buClr>
              <a:buSzPts val="1400"/>
              <a:buFont typeface="Garamond"/>
              <a:buChar char="●"/>
            </a:pPr>
            <a:r>
              <a:rPr lang="en">
                <a:solidFill>
                  <a:schemeClr val="dk1"/>
                </a:solidFill>
                <a:latin typeface="Garamond"/>
                <a:ea typeface="Garamond"/>
                <a:cs typeface="Garamond"/>
                <a:sym typeface="Garamond"/>
              </a:rPr>
              <a:t>Empower retail investor in information collection, data processing, news analysis and many more to make more informed decisions </a:t>
            </a:r>
            <a:endParaRPr>
              <a:solidFill>
                <a:schemeClr val="dk1"/>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3"/>
          <p:cNvSpPr txBox="1"/>
          <p:nvPr>
            <p:ph type="title"/>
          </p:nvPr>
        </p:nvSpPr>
        <p:spPr>
          <a:xfrm>
            <a:off x="49975" y="5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Problems we are facing</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159" name="Google Shape;15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33"/>
          <p:cNvSpPr txBox="1"/>
          <p:nvPr/>
        </p:nvSpPr>
        <p:spPr>
          <a:xfrm>
            <a:off x="401150" y="992625"/>
            <a:ext cx="5483400" cy="22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Garamond"/>
                <a:ea typeface="Garamond"/>
                <a:cs typeface="Garamond"/>
                <a:sym typeface="Garamond"/>
              </a:rPr>
              <a:t>What We need:</a:t>
            </a:r>
            <a:endParaRPr>
              <a:latin typeface="Garamond"/>
              <a:ea typeface="Garamond"/>
              <a:cs typeface="Garamond"/>
              <a:sym typeface="Garamond"/>
            </a:endParaRPr>
          </a:p>
          <a:p>
            <a:pPr indent="-317500" lvl="0" marL="457200" rtl="0" algn="l">
              <a:spcBef>
                <a:spcPts val="0"/>
              </a:spcBef>
              <a:spcAft>
                <a:spcPts val="0"/>
              </a:spcAft>
              <a:buSzPts val="1400"/>
              <a:buFont typeface="Garamond"/>
              <a:buChar char="●"/>
            </a:pPr>
            <a:r>
              <a:rPr b="1" lang="en">
                <a:latin typeface="Garamond"/>
                <a:ea typeface="Garamond"/>
                <a:cs typeface="Garamond"/>
                <a:sym typeface="Garamond"/>
              </a:rPr>
              <a:t>A Comprehensive Market Plan: </a:t>
            </a:r>
            <a:r>
              <a:rPr lang="en">
                <a:latin typeface="Garamond"/>
                <a:ea typeface="Garamond"/>
                <a:cs typeface="Garamond"/>
                <a:sym typeface="Garamond"/>
              </a:rPr>
              <a:t>Market Sizing, Segmentation, Targeting, and Marketing </a:t>
            </a:r>
            <a:r>
              <a:rPr lang="en">
                <a:latin typeface="Garamond"/>
                <a:ea typeface="Garamond"/>
                <a:cs typeface="Garamond"/>
                <a:sym typeface="Garamond"/>
              </a:rPr>
              <a:t>Strategy</a:t>
            </a:r>
            <a:r>
              <a:rPr lang="en">
                <a:latin typeface="Garamond"/>
                <a:ea typeface="Garamond"/>
                <a:cs typeface="Garamond"/>
                <a:sym typeface="Garamond"/>
              </a:rPr>
              <a:t> for each specific groups. (Give data and exact numbers)</a:t>
            </a:r>
            <a:endParaRPr>
              <a:latin typeface="Garamond"/>
              <a:ea typeface="Garamond"/>
              <a:cs typeface="Garamond"/>
              <a:sym typeface="Garamond"/>
            </a:endParaRPr>
          </a:p>
          <a:p>
            <a:pPr indent="-317500" lvl="0" marL="457200" rtl="0" algn="l">
              <a:spcBef>
                <a:spcPts val="0"/>
              </a:spcBef>
              <a:spcAft>
                <a:spcPts val="0"/>
              </a:spcAft>
              <a:buSzPts val="1400"/>
              <a:buFont typeface="Garamond"/>
              <a:buChar char="●"/>
            </a:pPr>
            <a:r>
              <a:t/>
            </a:r>
            <a:endParaRPr>
              <a:latin typeface="Garamond"/>
              <a:ea typeface="Garamond"/>
              <a:cs typeface="Garamond"/>
              <a:sym typeface="Garamond"/>
            </a:endParaRPr>
          </a:p>
          <a:p>
            <a:pPr indent="0" lvl="0" marL="0" rtl="0" algn="l">
              <a:spcBef>
                <a:spcPts val="0"/>
              </a:spcBef>
              <a:spcAft>
                <a:spcPts val="0"/>
              </a:spcAft>
              <a:buNone/>
            </a:pPr>
            <a:r>
              <a:t/>
            </a:r>
            <a:endParaRPr>
              <a:latin typeface="Garamond"/>
              <a:ea typeface="Garamond"/>
              <a:cs typeface="Garamond"/>
              <a:sym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595308" y="4749892"/>
            <a:ext cx="548700" cy="393600"/>
          </a:xfrm>
          <a:prstGeom prst="rect">
            <a:avLst/>
          </a:prstGeom>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b="1" lang="en">
                <a:solidFill>
                  <a:srgbClr val="510677"/>
                </a:solidFill>
                <a:latin typeface="Garamond"/>
                <a:ea typeface="Garamond"/>
                <a:cs typeface="Garamond"/>
                <a:sym typeface="Garamond"/>
              </a:rPr>
              <a:t>‹#›</a:t>
            </a:fld>
            <a:endParaRPr b="1">
              <a:solidFill>
                <a:srgbClr val="510677"/>
              </a:solidFill>
              <a:latin typeface="Garamond"/>
              <a:ea typeface="Garamond"/>
              <a:cs typeface="Garamond"/>
              <a:sym typeface="Garamond"/>
            </a:endParaRPr>
          </a:p>
        </p:txBody>
      </p:sp>
      <p:sp>
        <p:nvSpPr>
          <p:cNvPr id="166" name="Google Shape;166;p34"/>
          <p:cNvSpPr txBox="1"/>
          <p:nvPr/>
        </p:nvSpPr>
        <p:spPr>
          <a:xfrm>
            <a:off x="3244900" y="538700"/>
            <a:ext cx="52134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Garamond"/>
                <a:ea typeface="Garamond"/>
                <a:cs typeface="Garamond"/>
                <a:sym typeface="Garamond"/>
              </a:rPr>
              <a:t>Federal Funds Rate Peaks, Highest in 22 Years</a:t>
            </a:r>
            <a:endParaRPr b="1">
              <a:latin typeface="Garamond"/>
              <a:ea typeface="Garamond"/>
              <a:cs typeface="Garamond"/>
              <a:sym typeface="Garamond"/>
            </a:endParaRPr>
          </a:p>
        </p:txBody>
      </p:sp>
      <p:cxnSp>
        <p:nvCxnSpPr>
          <p:cNvPr id="167" name="Google Shape;167;p34"/>
          <p:cNvCxnSpPr/>
          <p:nvPr/>
        </p:nvCxnSpPr>
        <p:spPr>
          <a:xfrm>
            <a:off x="4090150" y="882388"/>
            <a:ext cx="3522900" cy="600"/>
          </a:xfrm>
          <a:prstGeom prst="straightConnector1">
            <a:avLst/>
          </a:prstGeom>
          <a:noFill/>
          <a:ln cap="flat" cmpd="sng" w="9525">
            <a:solidFill>
              <a:schemeClr val="dk2"/>
            </a:solidFill>
            <a:prstDash val="solid"/>
            <a:round/>
            <a:headEnd len="med" w="med" type="none"/>
            <a:tailEnd len="med" w="med" type="none"/>
          </a:ln>
        </p:spPr>
      </p:cxnSp>
      <p:sp>
        <p:nvSpPr>
          <p:cNvPr id="168" name="Google Shape;168;p34"/>
          <p:cNvSpPr txBox="1"/>
          <p:nvPr/>
        </p:nvSpPr>
        <p:spPr>
          <a:xfrm>
            <a:off x="3055675" y="938700"/>
            <a:ext cx="6033000" cy="1167000"/>
          </a:xfrm>
          <a:prstGeom prst="rect">
            <a:avLst/>
          </a:prstGeom>
          <a:solidFill>
            <a:srgbClr val="D9D2E9"/>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From October 2020 to March 2022, the Federal Funds rate was held at </a:t>
            </a:r>
            <a:r>
              <a:rPr b="1" lang="en" sz="1000">
                <a:solidFill>
                  <a:schemeClr val="dk1"/>
                </a:solidFill>
                <a:latin typeface="Garamond"/>
                <a:ea typeface="Garamond"/>
                <a:cs typeface="Garamond"/>
                <a:sym typeface="Garamond"/>
              </a:rPr>
              <a:t>near zero</a:t>
            </a:r>
            <a:r>
              <a:rPr lang="en" sz="1000">
                <a:solidFill>
                  <a:schemeClr val="dk1"/>
                </a:solidFill>
                <a:latin typeface="Garamond"/>
                <a:ea typeface="Garamond"/>
                <a:cs typeface="Garamond"/>
                <a:sym typeface="Garamond"/>
              </a:rPr>
              <a:t>. To </a:t>
            </a:r>
            <a:r>
              <a:rPr b="1" lang="en" sz="1000">
                <a:solidFill>
                  <a:schemeClr val="dk1"/>
                </a:solidFill>
                <a:latin typeface="Garamond"/>
                <a:ea typeface="Garamond"/>
                <a:cs typeface="Garamond"/>
                <a:sym typeface="Garamond"/>
              </a:rPr>
              <a:t>curb inflation</a:t>
            </a:r>
            <a:r>
              <a:rPr lang="en" sz="1000">
                <a:solidFill>
                  <a:schemeClr val="dk1"/>
                </a:solidFill>
                <a:latin typeface="Garamond"/>
                <a:ea typeface="Garamond"/>
                <a:cs typeface="Garamond"/>
                <a:sym typeface="Garamond"/>
              </a:rPr>
              <a:t>, the Federal Reserve Board initiated </a:t>
            </a:r>
            <a:r>
              <a:rPr b="1" lang="en" sz="1000">
                <a:solidFill>
                  <a:schemeClr val="dk1"/>
                </a:solidFill>
                <a:latin typeface="Garamond"/>
                <a:ea typeface="Garamond"/>
                <a:cs typeface="Garamond"/>
                <a:sym typeface="Garamond"/>
              </a:rPr>
              <a:t>significant rate hikes</a:t>
            </a:r>
            <a:r>
              <a:rPr lang="en" sz="1000">
                <a:solidFill>
                  <a:schemeClr val="dk1"/>
                </a:solidFill>
                <a:latin typeface="Garamond"/>
                <a:ea typeface="Garamond"/>
                <a:cs typeface="Garamond"/>
                <a:sym typeface="Garamond"/>
              </a:rPr>
              <a:t> from </a:t>
            </a:r>
            <a:r>
              <a:rPr b="1" lang="en" sz="1000">
                <a:solidFill>
                  <a:schemeClr val="dk1"/>
                </a:solidFill>
                <a:latin typeface="Garamond"/>
                <a:ea typeface="Garamond"/>
                <a:cs typeface="Garamond"/>
                <a:sym typeface="Garamond"/>
              </a:rPr>
              <a:t>March 2022</a:t>
            </a:r>
            <a:r>
              <a:rPr lang="en" sz="1000">
                <a:solidFill>
                  <a:schemeClr val="dk1"/>
                </a:solidFill>
                <a:latin typeface="Garamond"/>
                <a:ea typeface="Garamond"/>
                <a:cs typeface="Garamond"/>
                <a:sym typeface="Garamond"/>
              </a:rPr>
              <a:t>. The Federal Reserve raised the target rates </a:t>
            </a:r>
            <a:r>
              <a:rPr b="1" lang="en" sz="1000">
                <a:solidFill>
                  <a:schemeClr val="dk1"/>
                </a:solidFill>
                <a:latin typeface="Garamond"/>
                <a:ea typeface="Garamond"/>
                <a:cs typeface="Garamond"/>
                <a:sym typeface="Garamond"/>
              </a:rPr>
              <a:t>11 times consecutively</a:t>
            </a:r>
            <a:r>
              <a:rPr lang="en" sz="1000">
                <a:solidFill>
                  <a:schemeClr val="dk1"/>
                </a:solidFill>
                <a:latin typeface="Garamond"/>
                <a:ea typeface="Garamond"/>
                <a:cs typeface="Garamond"/>
                <a:sym typeface="Garamond"/>
              </a:rPr>
              <a:t> over 18 months, reaching a benchmark of </a:t>
            </a:r>
            <a:r>
              <a:rPr b="1" lang="en" sz="1000">
                <a:solidFill>
                  <a:schemeClr val="dk1"/>
                </a:solidFill>
                <a:latin typeface="Garamond"/>
                <a:ea typeface="Garamond"/>
                <a:cs typeface="Garamond"/>
                <a:sym typeface="Garamond"/>
              </a:rPr>
              <a:t>5.25% to 5.5% </a:t>
            </a:r>
            <a:r>
              <a:rPr lang="en" sz="1000">
                <a:solidFill>
                  <a:schemeClr val="dk1"/>
                </a:solidFill>
                <a:latin typeface="Garamond"/>
                <a:ea typeface="Garamond"/>
                <a:cs typeface="Garamond"/>
                <a:sym typeface="Garamond"/>
              </a:rPr>
              <a:t>by July 2023.</a:t>
            </a:r>
            <a:endParaRPr sz="1000">
              <a:solidFill>
                <a:schemeClr val="dk1"/>
              </a:solidFill>
              <a:latin typeface="Garamond"/>
              <a:ea typeface="Garamond"/>
              <a:cs typeface="Garamond"/>
              <a:sym typeface="Garamond"/>
            </a:endParaRPr>
          </a:p>
          <a:p>
            <a:pPr indent="0" lvl="0" marL="0" rtl="0" algn="ctr">
              <a:spcBef>
                <a:spcPts val="0"/>
              </a:spcBef>
              <a:spcAft>
                <a:spcPts val="0"/>
              </a:spcAft>
              <a:buNone/>
            </a:pPr>
            <a:r>
              <a:rPr lang="en" sz="1000">
                <a:latin typeface="Garamond"/>
                <a:ea typeface="Garamond"/>
                <a:cs typeface="Garamond"/>
                <a:sym typeface="Garamond"/>
              </a:rPr>
              <a:t>The US 10-year Treasury yield, indicative of </a:t>
            </a:r>
            <a:r>
              <a:rPr b="1" lang="en" sz="1000">
                <a:latin typeface="Garamond"/>
                <a:ea typeface="Garamond"/>
                <a:cs typeface="Garamond"/>
                <a:sym typeface="Garamond"/>
              </a:rPr>
              <a:t>long-term interest rates</a:t>
            </a:r>
            <a:r>
              <a:rPr lang="en" sz="1000">
                <a:latin typeface="Garamond"/>
                <a:ea typeface="Garamond"/>
                <a:cs typeface="Garamond"/>
                <a:sym typeface="Garamond"/>
              </a:rPr>
              <a:t>, has seen notable increase over the preceding three years. In 2021, the average yield stood at </a:t>
            </a:r>
            <a:r>
              <a:rPr b="1" lang="en" sz="1000">
                <a:latin typeface="Garamond"/>
                <a:ea typeface="Garamond"/>
                <a:cs typeface="Garamond"/>
                <a:sym typeface="Garamond"/>
              </a:rPr>
              <a:t>1.45%</a:t>
            </a:r>
            <a:r>
              <a:rPr lang="en" sz="1000">
                <a:latin typeface="Garamond"/>
                <a:ea typeface="Garamond"/>
                <a:cs typeface="Garamond"/>
                <a:sym typeface="Garamond"/>
              </a:rPr>
              <a:t>, rising to </a:t>
            </a:r>
            <a:r>
              <a:rPr b="1" lang="en" sz="1000">
                <a:latin typeface="Garamond"/>
                <a:ea typeface="Garamond"/>
                <a:cs typeface="Garamond"/>
                <a:sym typeface="Garamond"/>
              </a:rPr>
              <a:t>2.95%</a:t>
            </a:r>
            <a:r>
              <a:rPr lang="en" sz="1000">
                <a:latin typeface="Garamond"/>
                <a:ea typeface="Garamond"/>
                <a:cs typeface="Garamond"/>
                <a:sym typeface="Garamond"/>
              </a:rPr>
              <a:t> in 2022. As of October 2023, the yield has surged to</a:t>
            </a:r>
            <a:r>
              <a:rPr b="1" lang="en" sz="1000">
                <a:latin typeface="Garamond"/>
                <a:ea typeface="Garamond"/>
                <a:cs typeface="Garamond"/>
                <a:sym typeface="Garamond"/>
              </a:rPr>
              <a:t> 4.93%</a:t>
            </a:r>
            <a:r>
              <a:rPr lang="en" sz="1000">
                <a:latin typeface="Garamond"/>
                <a:ea typeface="Garamond"/>
                <a:cs typeface="Garamond"/>
                <a:sym typeface="Garamond"/>
              </a:rPr>
              <a:t>, marking a significant increment.</a:t>
            </a:r>
            <a:endParaRPr sz="1000">
              <a:latin typeface="Garamond"/>
              <a:ea typeface="Garamond"/>
              <a:cs typeface="Garamond"/>
              <a:sym typeface="Garamond"/>
            </a:endParaRPr>
          </a:p>
          <a:p>
            <a:pPr indent="0" lvl="0" marL="0" rtl="0" algn="ctr">
              <a:spcBef>
                <a:spcPts val="0"/>
              </a:spcBef>
              <a:spcAft>
                <a:spcPts val="0"/>
              </a:spcAft>
              <a:buNone/>
            </a:pPr>
            <a:r>
              <a:t/>
            </a:r>
            <a:endParaRPr sz="1000">
              <a:solidFill>
                <a:schemeClr val="dk1"/>
              </a:solidFill>
              <a:latin typeface="Garamond"/>
              <a:ea typeface="Garamond"/>
              <a:cs typeface="Garamond"/>
              <a:sym typeface="Garamond"/>
            </a:endParaRPr>
          </a:p>
        </p:txBody>
      </p:sp>
      <p:graphicFrame>
        <p:nvGraphicFramePr>
          <p:cNvPr id="169" name="Google Shape;169;p34"/>
          <p:cNvGraphicFramePr/>
          <p:nvPr/>
        </p:nvGraphicFramePr>
        <p:xfrm>
          <a:off x="22988" y="2217700"/>
          <a:ext cx="3000000" cy="3000000"/>
        </p:xfrm>
        <a:graphic>
          <a:graphicData uri="http://schemas.openxmlformats.org/drawingml/2006/table">
            <a:tbl>
              <a:tblPr>
                <a:noFill/>
                <a:tableStyleId>{FC7D8BC6-45FD-4609-B565-9793FC79D2B1}</a:tableStyleId>
              </a:tblPr>
              <a:tblGrid>
                <a:gridCol w="3032675"/>
                <a:gridCol w="3032675"/>
                <a:gridCol w="3032675"/>
              </a:tblGrid>
              <a:tr h="236050">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Driver</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Observations</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Interpretations</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r>
              <a:tr h="381000">
                <a:tc>
                  <a:txBody>
                    <a:bodyPr/>
                    <a:lstStyle/>
                    <a:p>
                      <a:pPr indent="0" lvl="0" marL="0" rtl="0" algn="l">
                        <a:spcBef>
                          <a:spcPts val="0"/>
                        </a:spcBef>
                        <a:spcAft>
                          <a:spcPts val="0"/>
                        </a:spcAft>
                        <a:buNone/>
                      </a:pPr>
                      <a:r>
                        <a:rPr lang="en" sz="1200">
                          <a:latin typeface="Garamond"/>
                          <a:ea typeface="Garamond"/>
                          <a:cs typeface="Garamond"/>
                          <a:sym typeface="Garamond"/>
                        </a:rPr>
                        <a:t>Inflation</a:t>
                      </a:r>
                      <a:endParaRPr sz="1200">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The inflationary situation in the United States had been on the rise, and was especially severe in 2022 due to global events relating to COVID-19, supply chain disruptions, prior near zero interest rates to stimulate the economy, and the Russia-Ukraine war, inflation </a:t>
                      </a:r>
                      <a:r>
                        <a:rPr b="1" lang="en" sz="1000">
                          <a:solidFill>
                            <a:schemeClr val="dk1"/>
                          </a:solidFill>
                          <a:latin typeface="Garamond"/>
                          <a:ea typeface="Garamond"/>
                          <a:cs typeface="Garamond"/>
                          <a:sym typeface="Garamond"/>
                        </a:rPr>
                        <a:t>peaked at 9.1% </a:t>
                      </a:r>
                      <a:r>
                        <a:rPr lang="en" sz="1000">
                          <a:solidFill>
                            <a:schemeClr val="dk1"/>
                          </a:solidFill>
                          <a:latin typeface="Garamond"/>
                          <a:ea typeface="Garamond"/>
                          <a:cs typeface="Garamond"/>
                          <a:sym typeface="Garamond"/>
                        </a:rPr>
                        <a:t>in June 2022. </a:t>
                      </a:r>
                      <a:endParaRPr>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The Federal Reserve’s primary objective it to </a:t>
                      </a:r>
                      <a:r>
                        <a:rPr b="1" lang="en" sz="1000">
                          <a:solidFill>
                            <a:schemeClr val="dk1"/>
                          </a:solidFill>
                          <a:latin typeface="Garamond"/>
                          <a:ea typeface="Garamond"/>
                          <a:cs typeface="Garamond"/>
                          <a:sym typeface="Garamond"/>
                        </a:rPr>
                        <a:t>ensure price stability while maximising employment</a:t>
                      </a:r>
                      <a:r>
                        <a:rPr lang="en" sz="1000">
                          <a:solidFill>
                            <a:schemeClr val="dk1"/>
                          </a:solidFill>
                          <a:latin typeface="Garamond"/>
                          <a:ea typeface="Garamond"/>
                          <a:cs typeface="Garamond"/>
                          <a:sym typeface="Garamond"/>
                        </a:rPr>
                        <a:t>, with a </a:t>
                      </a:r>
                      <a:r>
                        <a:rPr b="1" lang="en" sz="1000">
                          <a:solidFill>
                            <a:schemeClr val="dk1"/>
                          </a:solidFill>
                          <a:latin typeface="Garamond"/>
                          <a:ea typeface="Garamond"/>
                          <a:cs typeface="Garamond"/>
                          <a:sym typeface="Garamond"/>
                        </a:rPr>
                        <a:t>target inflation rate of 2%</a:t>
                      </a:r>
                      <a:r>
                        <a:rPr lang="en" sz="1000">
                          <a:solidFill>
                            <a:schemeClr val="dk1"/>
                          </a:solidFill>
                          <a:latin typeface="Garamond"/>
                          <a:ea typeface="Garamond"/>
                          <a:cs typeface="Garamond"/>
                          <a:sym typeface="Garamond"/>
                        </a:rPr>
                        <a:t>. In response to inflationary pressures, it has raised interest rates, bringing it down to </a:t>
                      </a:r>
                      <a:r>
                        <a:rPr b="1" lang="en" sz="1000">
                          <a:solidFill>
                            <a:schemeClr val="dk1"/>
                          </a:solidFill>
                          <a:latin typeface="Garamond"/>
                          <a:ea typeface="Garamond"/>
                          <a:cs typeface="Garamond"/>
                          <a:sym typeface="Garamond"/>
                        </a:rPr>
                        <a:t>3.7%</a:t>
                      </a:r>
                      <a:r>
                        <a:rPr lang="en" sz="1000">
                          <a:solidFill>
                            <a:schemeClr val="dk1"/>
                          </a:solidFill>
                          <a:latin typeface="Garamond"/>
                          <a:ea typeface="Garamond"/>
                          <a:cs typeface="Garamond"/>
                          <a:sym typeface="Garamond"/>
                        </a:rPr>
                        <a:t> as of September 2023.</a:t>
                      </a:r>
                      <a:endParaRPr sz="1000">
                        <a:solidFill>
                          <a:schemeClr val="dk1"/>
                        </a:solidFill>
                        <a:latin typeface="Garamond"/>
                        <a:ea typeface="Garamond"/>
                        <a:cs typeface="Garamond"/>
                        <a:sym typeface="Garamond"/>
                      </a:endParaRPr>
                    </a:p>
                    <a:p>
                      <a:pPr indent="0" lvl="0" marL="0" rtl="0" algn="ctr">
                        <a:spcBef>
                          <a:spcPts val="0"/>
                        </a:spcBef>
                        <a:spcAft>
                          <a:spcPts val="0"/>
                        </a:spcAft>
                        <a:buNone/>
                      </a:pPr>
                      <a:r>
                        <a:t/>
                      </a:r>
                      <a:endParaRPr sz="1000">
                        <a:solidFill>
                          <a:schemeClr val="dk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latin typeface="Garamond"/>
                          <a:ea typeface="Garamond"/>
                          <a:cs typeface="Garamond"/>
                          <a:sym typeface="Garamond"/>
                        </a:rPr>
                        <a:t>Economy Recovery and Low Unemployment</a:t>
                      </a:r>
                      <a:endParaRPr sz="1200">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Garamond"/>
                          <a:ea typeface="Garamond"/>
                          <a:cs typeface="Garamond"/>
                          <a:sym typeface="Garamond"/>
                        </a:rPr>
                        <a:t>The US economy exhibited a </a:t>
                      </a:r>
                      <a:r>
                        <a:rPr b="1" lang="en" sz="1000">
                          <a:solidFill>
                            <a:schemeClr val="dk1"/>
                          </a:solidFill>
                          <a:latin typeface="Garamond"/>
                          <a:ea typeface="Garamond"/>
                          <a:cs typeface="Garamond"/>
                          <a:sym typeface="Garamond"/>
                        </a:rPr>
                        <a:t>robust recovery</a:t>
                      </a:r>
                      <a:r>
                        <a:rPr lang="en" sz="1000">
                          <a:solidFill>
                            <a:schemeClr val="dk1"/>
                          </a:solidFill>
                          <a:latin typeface="Garamond"/>
                          <a:ea typeface="Garamond"/>
                          <a:cs typeface="Garamond"/>
                          <a:sym typeface="Garamond"/>
                        </a:rPr>
                        <a:t>, characterised by remarkable jobs growth that exceeded expectations throughout this period. Despite the rate hikes, unemployment rate has </a:t>
                      </a:r>
                      <a:r>
                        <a:rPr b="1" lang="en" sz="1000">
                          <a:solidFill>
                            <a:schemeClr val="dk1"/>
                          </a:solidFill>
                          <a:latin typeface="Garamond"/>
                          <a:ea typeface="Garamond"/>
                          <a:cs typeface="Garamond"/>
                          <a:sym typeface="Garamond"/>
                        </a:rPr>
                        <a:t>remained below 4%</a:t>
                      </a:r>
                      <a:r>
                        <a:rPr lang="en" sz="1000">
                          <a:solidFill>
                            <a:schemeClr val="dk1"/>
                          </a:solidFill>
                          <a:latin typeface="Garamond"/>
                          <a:ea typeface="Garamond"/>
                          <a:cs typeface="Garamond"/>
                          <a:sym typeface="Garamond"/>
                        </a:rPr>
                        <a:t> since January 2022, indicating a </a:t>
                      </a:r>
                      <a:r>
                        <a:rPr b="1" lang="en" sz="1000">
                          <a:solidFill>
                            <a:schemeClr val="dk1"/>
                          </a:solidFill>
                          <a:latin typeface="Garamond"/>
                          <a:ea typeface="Garamond"/>
                          <a:cs typeface="Garamond"/>
                          <a:sym typeface="Garamond"/>
                        </a:rPr>
                        <a:t>resilient labour market</a:t>
                      </a:r>
                      <a:r>
                        <a:rPr lang="en" sz="1000">
                          <a:solidFill>
                            <a:schemeClr val="dk1"/>
                          </a:solidFill>
                          <a:latin typeface="Garamond"/>
                          <a:ea typeface="Garamond"/>
                          <a:cs typeface="Garamond"/>
                          <a:sym typeface="Garamond"/>
                        </a:rPr>
                        <a:t>.</a:t>
                      </a:r>
                      <a:endParaRPr>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Garamond"/>
                          <a:ea typeface="Garamond"/>
                          <a:cs typeface="Garamond"/>
                          <a:sym typeface="Garamond"/>
                        </a:rPr>
                        <a:t>As the job market expanded and unemployment decreased, it signaled a </a:t>
                      </a:r>
                      <a:r>
                        <a:rPr b="1" lang="en" sz="1000">
                          <a:solidFill>
                            <a:schemeClr val="dk1"/>
                          </a:solidFill>
                          <a:latin typeface="Garamond"/>
                          <a:ea typeface="Garamond"/>
                          <a:cs typeface="Garamond"/>
                          <a:sym typeface="Garamond"/>
                        </a:rPr>
                        <a:t>recovering and resilient economy</a:t>
                      </a:r>
                      <a:r>
                        <a:rPr lang="en" sz="1000">
                          <a:solidFill>
                            <a:schemeClr val="dk1"/>
                          </a:solidFill>
                          <a:latin typeface="Garamond"/>
                          <a:ea typeface="Garamond"/>
                          <a:cs typeface="Garamond"/>
                          <a:sym typeface="Garamond"/>
                        </a:rPr>
                        <a:t>, which typically warrants an increase in interest rates to prevent overheating and control inflation, also </a:t>
                      </a:r>
                      <a:r>
                        <a:rPr b="1" lang="en" sz="1000">
                          <a:solidFill>
                            <a:schemeClr val="dk1"/>
                          </a:solidFill>
                          <a:latin typeface="Garamond"/>
                          <a:ea typeface="Garamond"/>
                          <a:cs typeface="Garamond"/>
                          <a:sym typeface="Garamond"/>
                        </a:rPr>
                        <a:t>leaving more rooms</a:t>
                      </a:r>
                      <a:r>
                        <a:rPr lang="en" sz="1000">
                          <a:solidFill>
                            <a:schemeClr val="dk1"/>
                          </a:solidFill>
                          <a:latin typeface="Garamond"/>
                          <a:ea typeface="Garamond"/>
                          <a:cs typeface="Garamond"/>
                          <a:sym typeface="Garamond"/>
                        </a:rPr>
                        <a:t> for the Federal Reserve to implement rate hikes.</a:t>
                      </a:r>
                      <a:endParaRPr>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70" name="Google Shape;170;p34"/>
          <p:cNvSpPr txBox="1"/>
          <p:nvPr>
            <p:ph type="title"/>
          </p:nvPr>
        </p:nvSpPr>
        <p:spPr>
          <a:xfrm>
            <a:off x="0" y="0"/>
            <a:ext cx="6666600" cy="56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Forces Behind Rising US Interest Rates </a:t>
            </a:r>
            <a:endParaRPr sz="2400"/>
          </a:p>
        </p:txBody>
      </p:sp>
      <p:pic>
        <p:nvPicPr>
          <p:cNvPr id="171" name="Google Shape;171;p34"/>
          <p:cNvPicPr preferRelativeResize="0"/>
          <p:nvPr/>
        </p:nvPicPr>
        <p:blipFill>
          <a:blip r:embed="rId3">
            <a:alphaModFix/>
          </a:blip>
          <a:stretch>
            <a:fillRect/>
          </a:stretch>
        </p:blipFill>
        <p:spPr>
          <a:xfrm>
            <a:off x="0" y="603504"/>
            <a:ext cx="3032677" cy="1537500"/>
          </a:xfrm>
          <a:prstGeom prst="rect">
            <a:avLst/>
          </a:prstGeom>
          <a:noFill/>
          <a:ln>
            <a:noFill/>
          </a:ln>
        </p:spPr>
      </p:pic>
      <p:pic>
        <p:nvPicPr>
          <p:cNvPr id="172" name="Google Shape;172;p34"/>
          <p:cNvPicPr preferRelativeResize="0"/>
          <p:nvPr/>
        </p:nvPicPr>
        <p:blipFill>
          <a:blip r:embed="rId4">
            <a:alphaModFix/>
          </a:blip>
          <a:stretch>
            <a:fillRect/>
          </a:stretch>
        </p:blipFill>
        <p:spPr>
          <a:xfrm>
            <a:off x="27400" y="2848675"/>
            <a:ext cx="3032677" cy="960926"/>
          </a:xfrm>
          <a:prstGeom prst="rect">
            <a:avLst/>
          </a:prstGeom>
          <a:noFill/>
          <a:ln>
            <a:noFill/>
          </a:ln>
        </p:spPr>
      </p:pic>
      <p:pic>
        <p:nvPicPr>
          <p:cNvPr id="173" name="Google Shape;173;p34"/>
          <p:cNvPicPr preferRelativeResize="0"/>
          <p:nvPr/>
        </p:nvPicPr>
        <p:blipFill>
          <a:blip r:embed="rId5">
            <a:alphaModFix/>
          </a:blip>
          <a:stretch>
            <a:fillRect/>
          </a:stretch>
        </p:blipFill>
        <p:spPr>
          <a:xfrm>
            <a:off x="124500" y="4036025"/>
            <a:ext cx="2905623" cy="960924"/>
          </a:xfrm>
          <a:prstGeom prst="rect">
            <a:avLst/>
          </a:prstGeom>
          <a:noFill/>
          <a:ln>
            <a:noFill/>
          </a:ln>
        </p:spPr>
      </p:pic>
      <p:sp>
        <p:nvSpPr>
          <p:cNvPr id="174" name="Google Shape;174;p34"/>
          <p:cNvSpPr txBox="1"/>
          <p:nvPr/>
        </p:nvSpPr>
        <p:spPr>
          <a:xfrm>
            <a:off x="754775" y="628250"/>
            <a:ext cx="2023200" cy="10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latin typeface="Garamond"/>
                <a:ea typeface="Garamond"/>
                <a:cs typeface="Garamond"/>
                <a:sym typeface="Garamond"/>
              </a:rPr>
              <a:t>Federal Funds Rate</a:t>
            </a:r>
            <a:endParaRPr sz="1000">
              <a:latin typeface="Garamond"/>
              <a:ea typeface="Garamond"/>
              <a:cs typeface="Garamond"/>
              <a:sym typeface="Garamond"/>
            </a:endParaRPr>
          </a:p>
        </p:txBody>
      </p:sp>
      <p:sp>
        <p:nvSpPr>
          <p:cNvPr id="175" name="Google Shape;175;p34"/>
          <p:cNvSpPr txBox="1"/>
          <p:nvPr/>
        </p:nvSpPr>
        <p:spPr>
          <a:xfrm>
            <a:off x="684750" y="2848675"/>
            <a:ext cx="2023200" cy="10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latin typeface="Garamond"/>
                <a:ea typeface="Garamond"/>
                <a:cs typeface="Garamond"/>
                <a:sym typeface="Garamond"/>
              </a:rPr>
              <a:t>Inflation Rate</a:t>
            </a:r>
            <a:endParaRPr sz="1000">
              <a:latin typeface="Garamond"/>
              <a:ea typeface="Garamond"/>
              <a:cs typeface="Garamond"/>
              <a:sym typeface="Garamond"/>
            </a:endParaRPr>
          </a:p>
        </p:txBody>
      </p:sp>
      <p:sp>
        <p:nvSpPr>
          <p:cNvPr id="176" name="Google Shape;176;p34"/>
          <p:cNvSpPr txBox="1"/>
          <p:nvPr/>
        </p:nvSpPr>
        <p:spPr>
          <a:xfrm>
            <a:off x="684738" y="4036025"/>
            <a:ext cx="2023200" cy="10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latin typeface="Garamond"/>
                <a:ea typeface="Garamond"/>
                <a:cs typeface="Garamond"/>
                <a:sym typeface="Garamond"/>
              </a:rPr>
              <a:t>US Unemployment Rate</a:t>
            </a:r>
            <a:endParaRPr sz="1000">
              <a:latin typeface="Garamond"/>
              <a:ea typeface="Garamond"/>
              <a:cs typeface="Garamond"/>
              <a:sym typeface="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0" y="0"/>
            <a:ext cx="6666600" cy="56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2420"/>
              <a:t>Forces Behind Singapore’s Interest Rates</a:t>
            </a:r>
            <a:endParaRPr sz="2420"/>
          </a:p>
        </p:txBody>
      </p:sp>
      <p:graphicFrame>
        <p:nvGraphicFramePr>
          <p:cNvPr id="182" name="Google Shape;182;p35"/>
          <p:cNvGraphicFramePr/>
          <p:nvPr/>
        </p:nvGraphicFramePr>
        <p:xfrm>
          <a:off x="22988" y="2217700"/>
          <a:ext cx="3000000" cy="3000000"/>
        </p:xfrm>
        <a:graphic>
          <a:graphicData uri="http://schemas.openxmlformats.org/drawingml/2006/table">
            <a:tbl>
              <a:tblPr>
                <a:noFill/>
                <a:tableStyleId>{FC7D8BC6-45FD-4609-B565-9793FC79D2B1}</a:tableStyleId>
              </a:tblPr>
              <a:tblGrid>
                <a:gridCol w="3032675"/>
                <a:gridCol w="3032675"/>
                <a:gridCol w="3032675"/>
              </a:tblGrid>
              <a:tr h="302825">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Driver</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Observations</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c>
                  <a:txBody>
                    <a:bodyPr/>
                    <a:lstStyle/>
                    <a:p>
                      <a:pPr indent="0" lvl="0" marL="0" rtl="0" algn="l">
                        <a:spcBef>
                          <a:spcPts val="0"/>
                        </a:spcBef>
                        <a:spcAft>
                          <a:spcPts val="0"/>
                        </a:spcAft>
                        <a:buNone/>
                      </a:pPr>
                      <a:r>
                        <a:rPr b="1" lang="en" sz="1300">
                          <a:solidFill>
                            <a:schemeClr val="lt1"/>
                          </a:solidFill>
                          <a:latin typeface="Garamond"/>
                          <a:ea typeface="Garamond"/>
                          <a:cs typeface="Garamond"/>
                          <a:sym typeface="Garamond"/>
                        </a:rPr>
                        <a:t>Interpretations</a:t>
                      </a:r>
                      <a:endParaRPr b="1" sz="1300">
                        <a:solidFill>
                          <a:schemeClr val="lt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10677"/>
                    </a:solidFill>
                  </a:tcPr>
                </a:tc>
              </a:tr>
              <a:tr h="1236325">
                <a:tc>
                  <a:txBody>
                    <a:bodyPr/>
                    <a:lstStyle/>
                    <a:p>
                      <a:pPr indent="0" lvl="0" marL="0" rtl="0" algn="l">
                        <a:spcBef>
                          <a:spcPts val="0"/>
                        </a:spcBef>
                        <a:spcAft>
                          <a:spcPts val="0"/>
                        </a:spcAft>
                        <a:buNone/>
                      </a:pPr>
                      <a:r>
                        <a:rPr lang="en" sz="1200">
                          <a:latin typeface="Garamond"/>
                          <a:ea typeface="Garamond"/>
                          <a:cs typeface="Garamond"/>
                          <a:sym typeface="Garamond"/>
                        </a:rPr>
                        <a:t>SGD Nominal Effective Exchange Rate</a:t>
                      </a:r>
                      <a:endParaRPr sz="1200">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The Singapore Dollar Nominal Effective Exchange Rate (S$NEER) serves as the </a:t>
                      </a:r>
                      <a:r>
                        <a:rPr b="1" lang="en" sz="1000">
                          <a:solidFill>
                            <a:schemeClr val="dk1"/>
                          </a:solidFill>
                          <a:latin typeface="Garamond"/>
                          <a:ea typeface="Garamond"/>
                          <a:cs typeface="Garamond"/>
                          <a:sym typeface="Garamond"/>
                        </a:rPr>
                        <a:t>principal monetary policy instrument</a:t>
                      </a:r>
                      <a:r>
                        <a:rPr lang="en" sz="1000">
                          <a:solidFill>
                            <a:schemeClr val="dk1"/>
                          </a:solidFill>
                          <a:latin typeface="Garamond"/>
                          <a:ea typeface="Garamond"/>
                          <a:cs typeface="Garamond"/>
                          <a:sym typeface="Garamond"/>
                        </a:rPr>
                        <a:t> employed by the MAS. The Index exhibited a range-bound movement around the </a:t>
                      </a:r>
                      <a:r>
                        <a:rPr b="1" lang="en" sz="1000">
                          <a:solidFill>
                            <a:schemeClr val="dk1"/>
                          </a:solidFill>
                          <a:latin typeface="Garamond"/>
                          <a:ea typeface="Garamond"/>
                          <a:cs typeface="Garamond"/>
                          <a:sym typeface="Garamond"/>
                        </a:rPr>
                        <a:t>level of 100</a:t>
                      </a:r>
                      <a:r>
                        <a:rPr lang="en" sz="1000">
                          <a:solidFill>
                            <a:schemeClr val="dk1"/>
                          </a:solidFill>
                          <a:latin typeface="Garamond"/>
                          <a:ea typeface="Garamond"/>
                          <a:cs typeface="Garamond"/>
                          <a:sym typeface="Garamond"/>
                        </a:rPr>
                        <a:t> from October 2020 to December 2021. Subsequently, it </a:t>
                      </a:r>
                      <a:r>
                        <a:rPr b="1" lang="en" sz="1000">
                          <a:solidFill>
                            <a:schemeClr val="dk1"/>
                          </a:solidFill>
                          <a:latin typeface="Garamond"/>
                          <a:ea typeface="Garamond"/>
                          <a:cs typeface="Garamond"/>
                          <a:sym typeface="Garamond"/>
                        </a:rPr>
                        <a:t>rose steadily to 110</a:t>
                      </a:r>
                      <a:r>
                        <a:rPr lang="en" sz="1000">
                          <a:solidFill>
                            <a:schemeClr val="dk1"/>
                          </a:solidFill>
                          <a:latin typeface="Garamond"/>
                          <a:ea typeface="Garamond"/>
                          <a:cs typeface="Garamond"/>
                          <a:sym typeface="Garamond"/>
                        </a:rPr>
                        <a:t> as of October 2023, indicating an </a:t>
                      </a:r>
                      <a:r>
                        <a:rPr b="1" lang="en" sz="1000">
                          <a:solidFill>
                            <a:schemeClr val="dk1"/>
                          </a:solidFill>
                          <a:latin typeface="Garamond"/>
                          <a:ea typeface="Garamond"/>
                          <a:cs typeface="Garamond"/>
                          <a:sym typeface="Garamond"/>
                        </a:rPr>
                        <a:t>appreciating SGD</a:t>
                      </a:r>
                      <a:r>
                        <a:rPr lang="en" sz="1000">
                          <a:solidFill>
                            <a:schemeClr val="dk1"/>
                          </a:solidFill>
                          <a:latin typeface="Garamond"/>
                          <a:ea typeface="Garamond"/>
                          <a:cs typeface="Garamond"/>
                          <a:sym typeface="Garamond"/>
                        </a:rPr>
                        <a:t>. </a:t>
                      </a:r>
                      <a:endParaRPr>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In addressing imported inflation, the Monetary Authority of Singapore (MAS) has </a:t>
                      </a:r>
                      <a:r>
                        <a:rPr b="1" lang="en" sz="1000">
                          <a:solidFill>
                            <a:schemeClr val="dk1"/>
                          </a:solidFill>
                          <a:latin typeface="Garamond"/>
                          <a:ea typeface="Garamond"/>
                          <a:cs typeface="Garamond"/>
                          <a:sym typeface="Garamond"/>
                        </a:rPr>
                        <a:t>thrice adjusted the policy band upwards and steepened its slope</a:t>
                      </a:r>
                      <a:r>
                        <a:rPr lang="en" sz="1000">
                          <a:solidFill>
                            <a:schemeClr val="dk1"/>
                          </a:solidFill>
                          <a:latin typeface="Garamond"/>
                          <a:ea typeface="Garamond"/>
                          <a:cs typeface="Garamond"/>
                          <a:sym typeface="Garamond"/>
                        </a:rPr>
                        <a:t> since October 2021 to appreciate the Singapore Dollar (SGD), which may have explained the </a:t>
                      </a:r>
                      <a:r>
                        <a:rPr b="1" lang="en" sz="1000">
                          <a:solidFill>
                            <a:schemeClr val="dk1"/>
                          </a:solidFill>
                          <a:latin typeface="Garamond"/>
                          <a:ea typeface="Garamond"/>
                          <a:cs typeface="Garamond"/>
                          <a:sym typeface="Garamond"/>
                        </a:rPr>
                        <a:t>smaller increase in domestic interest rates</a:t>
                      </a:r>
                      <a:r>
                        <a:rPr lang="en" sz="1000">
                          <a:solidFill>
                            <a:schemeClr val="dk1"/>
                          </a:solidFill>
                          <a:latin typeface="Garamond"/>
                          <a:ea typeface="Garamond"/>
                          <a:cs typeface="Garamond"/>
                          <a:sym typeface="Garamond"/>
                        </a:rPr>
                        <a:t> as compared to global interest rates.</a:t>
                      </a:r>
                      <a:endParaRPr sz="1000">
                        <a:solidFill>
                          <a:schemeClr val="dk1"/>
                        </a:solidFill>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latin typeface="Garamond"/>
                          <a:ea typeface="Garamond"/>
                          <a:cs typeface="Garamond"/>
                          <a:sym typeface="Garamond"/>
                        </a:rPr>
                        <a:t>Global Interest Rates</a:t>
                      </a:r>
                      <a:endParaRPr sz="1200">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Garamond"/>
                          <a:ea typeface="Garamond"/>
                          <a:cs typeface="Garamond"/>
                          <a:sym typeface="Garamond"/>
                        </a:rPr>
                        <a:t>Singapore's interest rate fluctuations exhibit a rising trend </a:t>
                      </a:r>
                      <a:r>
                        <a:rPr b="1" lang="en" sz="1000">
                          <a:solidFill>
                            <a:schemeClr val="dk1"/>
                          </a:solidFill>
                          <a:latin typeface="Garamond"/>
                          <a:ea typeface="Garamond"/>
                          <a:cs typeface="Garamond"/>
                          <a:sym typeface="Garamond"/>
                        </a:rPr>
                        <a:t>similar to global interest rates</a:t>
                      </a:r>
                      <a:r>
                        <a:rPr lang="en" sz="1000">
                          <a:solidFill>
                            <a:schemeClr val="dk1"/>
                          </a:solidFill>
                          <a:latin typeface="Garamond"/>
                          <a:ea typeface="Garamond"/>
                          <a:cs typeface="Garamond"/>
                          <a:sym typeface="Garamond"/>
                        </a:rPr>
                        <a:t>. Central banks in most developed nations including the European Union, Japan, the UK, and Australia have </a:t>
                      </a:r>
                      <a:r>
                        <a:rPr b="1" lang="en" sz="1000">
                          <a:solidFill>
                            <a:schemeClr val="dk1"/>
                          </a:solidFill>
                          <a:latin typeface="Garamond"/>
                          <a:ea typeface="Garamond"/>
                          <a:cs typeface="Garamond"/>
                          <a:sym typeface="Garamond"/>
                        </a:rPr>
                        <a:t>raised rates since 2022</a:t>
                      </a:r>
                      <a:r>
                        <a:rPr lang="en" sz="1000">
                          <a:solidFill>
                            <a:schemeClr val="dk1"/>
                          </a:solidFill>
                          <a:latin typeface="Garamond"/>
                          <a:ea typeface="Garamond"/>
                          <a:cs typeface="Garamond"/>
                          <a:sym typeface="Garamond"/>
                        </a:rPr>
                        <a:t>, with some continuing rate hikes in 2023.</a:t>
                      </a:r>
                      <a:endParaRPr>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Garamond"/>
                          <a:ea typeface="Garamond"/>
                          <a:cs typeface="Garamond"/>
                          <a:sym typeface="Garamond"/>
                        </a:rPr>
                        <a:t>As a small and open economy with </a:t>
                      </a:r>
                      <a:r>
                        <a:rPr b="1" lang="en" sz="1000">
                          <a:latin typeface="Garamond"/>
                          <a:ea typeface="Garamond"/>
                          <a:cs typeface="Garamond"/>
                          <a:sym typeface="Garamond"/>
                        </a:rPr>
                        <a:t>export 3 times of the GDP</a:t>
                      </a:r>
                      <a:r>
                        <a:rPr lang="en" sz="1000">
                          <a:latin typeface="Garamond"/>
                          <a:ea typeface="Garamond"/>
                          <a:cs typeface="Garamond"/>
                          <a:sym typeface="Garamond"/>
                        </a:rPr>
                        <a:t>,  domestic interest rates are </a:t>
                      </a:r>
                      <a:r>
                        <a:rPr b="1" lang="en" sz="1000">
                          <a:latin typeface="Garamond"/>
                          <a:ea typeface="Garamond"/>
                          <a:cs typeface="Garamond"/>
                          <a:sym typeface="Garamond"/>
                        </a:rPr>
                        <a:t>heavily influenced by global interest rates</a:t>
                      </a:r>
                      <a:r>
                        <a:rPr lang="en" sz="1000">
                          <a:latin typeface="Garamond"/>
                          <a:ea typeface="Garamond"/>
                          <a:cs typeface="Garamond"/>
                          <a:sym typeface="Garamond"/>
                        </a:rPr>
                        <a:t> and foreign exchange market expectations of the Singapore dollar. Thus we could observe a similar trend of the Singapore interest rates to that of the general rising global trend.</a:t>
                      </a:r>
                      <a:endParaRPr sz="1000">
                        <a:latin typeface="Garamond"/>
                        <a:ea typeface="Garamond"/>
                        <a:cs typeface="Garamond"/>
                        <a:sym typeface="Garamond"/>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83" name="Google Shape;183;p35"/>
          <p:cNvSpPr txBox="1"/>
          <p:nvPr/>
        </p:nvSpPr>
        <p:spPr>
          <a:xfrm>
            <a:off x="3806870" y="538709"/>
            <a:ext cx="44418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Garamond"/>
                <a:ea typeface="Garamond"/>
                <a:cs typeface="Garamond"/>
                <a:sym typeface="Garamond"/>
              </a:rPr>
              <a:t>Rising Short-Term and Long-Term Rates </a:t>
            </a:r>
            <a:endParaRPr b="1">
              <a:latin typeface="Garamond"/>
              <a:ea typeface="Garamond"/>
              <a:cs typeface="Garamond"/>
              <a:sym typeface="Garamond"/>
            </a:endParaRPr>
          </a:p>
        </p:txBody>
      </p:sp>
      <p:sp>
        <p:nvSpPr>
          <p:cNvPr id="184" name="Google Shape;184;p35"/>
          <p:cNvSpPr txBox="1"/>
          <p:nvPr/>
        </p:nvSpPr>
        <p:spPr>
          <a:xfrm>
            <a:off x="3055675" y="941832"/>
            <a:ext cx="6065400" cy="1218900"/>
          </a:xfrm>
          <a:prstGeom prst="rect">
            <a:avLst/>
          </a:prstGeom>
          <a:solidFill>
            <a:srgbClr val="D9D2E9"/>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Garamond"/>
                <a:ea typeface="Garamond"/>
                <a:cs typeface="Garamond"/>
                <a:sym typeface="Garamond"/>
              </a:rPr>
              <a:t>The Singapore Overnight Rate Average (SORA) serves as an indicator of the cost at which financial institutions extend unsecured overnight loans to each other  within the Singapore market. The trajectory of the SORA is </a:t>
            </a:r>
            <a:r>
              <a:rPr b="1" lang="en" sz="1000">
                <a:solidFill>
                  <a:schemeClr val="dk1"/>
                </a:solidFill>
                <a:latin typeface="Garamond"/>
                <a:ea typeface="Garamond"/>
                <a:cs typeface="Garamond"/>
                <a:sym typeface="Garamond"/>
              </a:rPr>
              <a:t>similar to that of the Federal Funds Rate</a:t>
            </a:r>
            <a:r>
              <a:rPr lang="en" sz="1000">
                <a:solidFill>
                  <a:schemeClr val="dk1"/>
                </a:solidFill>
                <a:latin typeface="Garamond"/>
                <a:ea typeface="Garamond"/>
                <a:cs typeface="Garamond"/>
                <a:sym typeface="Garamond"/>
              </a:rPr>
              <a:t>, but on a diminished scale. It was at </a:t>
            </a:r>
            <a:r>
              <a:rPr b="1" lang="en" sz="1000">
                <a:solidFill>
                  <a:schemeClr val="dk1"/>
                </a:solidFill>
                <a:latin typeface="Garamond"/>
                <a:ea typeface="Garamond"/>
                <a:cs typeface="Garamond"/>
                <a:sym typeface="Garamond"/>
              </a:rPr>
              <a:t>near zero levels</a:t>
            </a:r>
            <a:r>
              <a:rPr lang="en" sz="1000">
                <a:solidFill>
                  <a:schemeClr val="dk1"/>
                </a:solidFill>
                <a:latin typeface="Garamond"/>
                <a:ea typeface="Garamond"/>
                <a:cs typeface="Garamond"/>
                <a:sym typeface="Garamond"/>
              </a:rPr>
              <a:t> from October 2020 to March 2022, before </a:t>
            </a:r>
            <a:r>
              <a:rPr b="1" lang="en" sz="1000">
                <a:solidFill>
                  <a:schemeClr val="dk1"/>
                </a:solidFill>
                <a:latin typeface="Garamond"/>
                <a:ea typeface="Garamond"/>
                <a:cs typeface="Garamond"/>
                <a:sym typeface="Garamond"/>
              </a:rPr>
              <a:t>escalating sharply to 4%</a:t>
            </a:r>
            <a:r>
              <a:rPr lang="en" sz="1000">
                <a:solidFill>
                  <a:schemeClr val="dk1"/>
                </a:solidFill>
                <a:latin typeface="Garamond"/>
                <a:ea typeface="Garamond"/>
                <a:cs typeface="Garamond"/>
                <a:sym typeface="Garamond"/>
              </a:rPr>
              <a:t> in June 2022, and registered </a:t>
            </a:r>
            <a:r>
              <a:rPr b="1" lang="en" sz="1000">
                <a:solidFill>
                  <a:schemeClr val="dk1"/>
                </a:solidFill>
                <a:latin typeface="Garamond"/>
                <a:ea typeface="Garamond"/>
                <a:cs typeface="Garamond"/>
                <a:sym typeface="Garamond"/>
              </a:rPr>
              <a:t>3.77%</a:t>
            </a:r>
            <a:r>
              <a:rPr lang="en" sz="1000">
                <a:solidFill>
                  <a:schemeClr val="dk1"/>
                </a:solidFill>
                <a:latin typeface="Garamond"/>
                <a:ea typeface="Garamond"/>
                <a:cs typeface="Garamond"/>
                <a:sym typeface="Garamond"/>
              </a:rPr>
              <a:t> as of 25 October 2023. </a:t>
            </a:r>
            <a:endParaRPr sz="1000">
              <a:solidFill>
                <a:schemeClr val="dk1"/>
              </a:solidFill>
              <a:latin typeface="Garamond"/>
              <a:ea typeface="Garamond"/>
              <a:cs typeface="Garamond"/>
              <a:sym typeface="Garamond"/>
            </a:endParaRPr>
          </a:p>
          <a:p>
            <a:pPr indent="0" lvl="0" marL="0" rtl="0" algn="ctr">
              <a:spcBef>
                <a:spcPts val="0"/>
              </a:spcBef>
              <a:spcAft>
                <a:spcPts val="0"/>
              </a:spcAft>
              <a:buClr>
                <a:schemeClr val="dk1"/>
              </a:buClr>
              <a:buSzPts val="1100"/>
              <a:buFont typeface="Arial"/>
              <a:buNone/>
            </a:pPr>
            <a:r>
              <a:rPr lang="en" sz="1000">
                <a:solidFill>
                  <a:schemeClr val="dk1"/>
                </a:solidFill>
                <a:latin typeface="Garamond"/>
                <a:ea typeface="Garamond"/>
                <a:cs typeface="Garamond"/>
                <a:sym typeface="Garamond"/>
              </a:rPr>
              <a:t>For the long-term rates, the yield on the Singapore 10-Year Bond has displayed a similar trend. It recorded a yield of </a:t>
            </a:r>
            <a:r>
              <a:rPr b="1" lang="en" sz="1000">
                <a:solidFill>
                  <a:schemeClr val="dk1"/>
                </a:solidFill>
                <a:latin typeface="Garamond"/>
                <a:ea typeface="Garamond"/>
                <a:cs typeface="Garamond"/>
                <a:sym typeface="Garamond"/>
              </a:rPr>
              <a:t>0.67% </a:t>
            </a:r>
            <a:r>
              <a:rPr lang="en" sz="1000">
                <a:solidFill>
                  <a:schemeClr val="dk1"/>
                </a:solidFill>
                <a:latin typeface="Garamond"/>
                <a:ea typeface="Garamond"/>
                <a:cs typeface="Garamond"/>
                <a:sym typeface="Garamond"/>
              </a:rPr>
              <a:t>in October 2020, escalated to </a:t>
            </a:r>
            <a:r>
              <a:rPr b="1" lang="en" sz="1000">
                <a:solidFill>
                  <a:schemeClr val="dk1"/>
                </a:solidFill>
                <a:latin typeface="Garamond"/>
                <a:ea typeface="Garamond"/>
                <a:cs typeface="Garamond"/>
                <a:sym typeface="Garamond"/>
              </a:rPr>
              <a:t>3.62%</a:t>
            </a:r>
            <a:r>
              <a:rPr lang="en" sz="1000">
                <a:solidFill>
                  <a:schemeClr val="dk1"/>
                </a:solidFill>
                <a:latin typeface="Garamond"/>
                <a:ea typeface="Garamond"/>
                <a:cs typeface="Garamond"/>
                <a:sym typeface="Garamond"/>
              </a:rPr>
              <a:t> in October 2022, and after a period of fluctuation settled at </a:t>
            </a:r>
            <a:r>
              <a:rPr b="1" lang="en" sz="1000">
                <a:solidFill>
                  <a:schemeClr val="dk1"/>
                </a:solidFill>
                <a:latin typeface="Garamond"/>
                <a:ea typeface="Garamond"/>
                <a:cs typeface="Garamond"/>
                <a:sym typeface="Garamond"/>
              </a:rPr>
              <a:t>3.39%</a:t>
            </a:r>
            <a:r>
              <a:rPr lang="en" sz="1000">
                <a:solidFill>
                  <a:schemeClr val="dk1"/>
                </a:solidFill>
                <a:latin typeface="Garamond"/>
                <a:ea typeface="Garamond"/>
                <a:cs typeface="Garamond"/>
                <a:sym typeface="Garamond"/>
              </a:rPr>
              <a:t> as of 25 October 2023.</a:t>
            </a:r>
            <a:endParaRPr sz="1000">
              <a:solidFill>
                <a:schemeClr val="dk1"/>
              </a:solidFill>
              <a:latin typeface="Garamond"/>
              <a:ea typeface="Garamond"/>
              <a:cs typeface="Garamond"/>
              <a:sym typeface="Garamond"/>
            </a:endParaRPr>
          </a:p>
          <a:p>
            <a:pPr indent="0" lvl="0" marL="0" rtl="0" algn="ctr">
              <a:spcBef>
                <a:spcPts val="0"/>
              </a:spcBef>
              <a:spcAft>
                <a:spcPts val="0"/>
              </a:spcAft>
              <a:buNone/>
            </a:pPr>
            <a:r>
              <a:t/>
            </a:r>
            <a:endParaRPr sz="1000">
              <a:solidFill>
                <a:schemeClr val="dk1"/>
              </a:solidFill>
              <a:latin typeface="Garamond"/>
              <a:ea typeface="Garamond"/>
              <a:cs typeface="Garamond"/>
              <a:sym typeface="Garamond"/>
            </a:endParaRPr>
          </a:p>
        </p:txBody>
      </p:sp>
      <p:pic>
        <p:nvPicPr>
          <p:cNvPr id="185" name="Google Shape;185;p35"/>
          <p:cNvPicPr preferRelativeResize="0"/>
          <p:nvPr/>
        </p:nvPicPr>
        <p:blipFill>
          <a:blip r:embed="rId3">
            <a:alphaModFix/>
          </a:blip>
          <a:stretch>
            <a:fillRect/>
          </a:stretch>
        </p:blipFill>
        <p:spPr>
          <a:xfrm>
            <a:off x="124825" y="2890525"/>
            <a:ext cx="2930850" cy="1053275"/>
          </a:xfrm>
          <a:prstGeom prst="rect">
            <a:avLst/>
          </a:prstGeom>
          <a:noFill/>
          <a:ln>
            <a:noFill/>
          </a:ln>
        </p:spPr>
      </p:pic>
      <p:pic>
        <p:nvPicPr>
          <p:cNvPr id="186" name="Google Shape;186;p35"/>
          <p:cNvPicPr preferRelativeResize="0"/>
          <p:nvPr/>
        </p:nvPicPr>
        <p:blipFill>
          <a:blip r:embed="rId4">
            <a:alphaModFix/>
          </a:blip>
          <a:stretch>
            <a:fillRect/>
          </a:stretch>
        </p:blipFill>
        <p:spPr>
          <a:xfrm>
            <a:off x="0" y="604975"/>
            <a:ext cx="3055674" cy="1574476"/>
          </a:xfrm>
          <a:prstGeom prst="rect">
            <a:avLst/>
          </a:prstGeom>
          <a:noFill/>
          <a:ln>
            <a:noFill/>
          </a:ln>
        </p:spPr>
      </p:pic>
      <p:sp>
        <p:nvSpPr>
          <p:cNvPr id="187" name="Google Shape;187;p35"/>
          <p:cNvSpPr txBox="1"/>
          <p:nvPr/>
        </p:nvSpPr>
        <p:spPr>
          <a:xfrm>
            <a:off x="754775" y="628250"/>
            <a:ext cx="2023200" cy="10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latin typeface="Garamond"/>
                <a:ea typeface="Garamond"/>
                <a:cs typeface="Garamond"/>
                <a:sym typeface="Garamond"/>
              </a:rPr>
              <a:t>Singapore Overnight Rate Average</a:t>
            </a:r>
            <a:endParaRPr sz="1000">
              <a:latin typeface="Garamond"/>
              <a:ea typeface="Garamond"/>
              <a:cs typeface="Garamond"/>
              <a:sym typeface="Garamond"/>
            </a:endParaRPr>
          </a:p>
        </p:txBody>
      </p:sp>
      <p:pic>
        <p:nvPicPr>
          <p:cNvPr id="188" name="Google Shape;188;p35"/>
          <p:cNvPicPr preferRelativeResize="0"/>
          <p:nvPr/>
        </p:nvPicPr>
        <p:blipFill>
          <a:blip r:embed="rId5">
            <a:alphaModFix/>
          </a:blip>
          <a:stretch>
            <a:fillRect/>
          </a:stretch>
        </p:blipFill>
        <p:spPr>
          <a:xfrm>
            <a:off x="124825" y="4129875"/>
            <a:ext cx="2930851" cy="874426"/>
          </a:xfrm>
          <a:prstGeom prst="rect">
            <a:avLst/>
          </a:prstGeom>
          <a:noFill/>
          <a:ln>
            <a:noFill/>
          </a:ln>
        </p:spPr>
      </p:pic>
      <p:sp>
        <p:nvSpPr>
          <p:cNvPr id="189" name="Google Shape;189;p35"/>
          <p:cNvSpPr txBox="1"/>
          <p:nvPr/>
        </p:nvSpPr>
        <p:spPr>
          <a:xfrm>
            <a:off x="809225" y="4090100"/>
            <a:ext cx="2023200" cy="10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latin typeface="Garamond"/>
                <a:ea typeface="Garamond"/>
                <a:cs typeface="Garamond"/>
                <a:sym typeface="Garamond"/>
              </a:rPr>
              <a:t>Federal Funds Rate</a:t>
            </a:r>
            <a:endParaRPr sz="1000">
              <a:latin typeface="Garamond"/>
              <a:ea typeface="Garamond"/>
              <a:cs typeface="Garamond"/>
              <a:sym typeface="Garamond"/>
            </a:endParaRPr>
          </a:p>
        </p:txBody>
      </p:sp>
      <p:sp>
        <p:nvSpPr>
          <p:cNvPr id="190" name="Google Shape;190;p3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cxnSp>
        <p:nvCxnSpPr>
          <p:cNvPr id="191" name="Google Shape;191;p35"/>
          <p:cNvCxnSpPr/>
          <p:nvPr/>
        </p:nvCxnSpPr>
        <p:spPr>
          <a:xfrm>
            <a:off x="4494195" y="884846"/>
            <a:ext cx="3077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0" y="0"/>
            <a:ext cx="6666600" cy="56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2420"/>
              <a:t>Investment Considerations for Retail Investors</a:t>
            </a:r>
            <a:endParaRPr sz="2420"/>
          </a:p>
        </p:txBody>
      </p:sp>
      <p:sp>
        <p:nvSpPr>
          <p:cNvPr id="197" name="Google Shape;197;p3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98" name="Google Shape;198;p36"/>
          <p:cNvSpPr txBox="1"/>
          <p:nvPr/>
        </p:nvSpPr>
        <p:spPr>
          <a:xfrm>
            <a:off x="1965300" y="538700"/>
            <a:ext cx="52134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Garamond"/>
                <a:ea typeface="Garamond"/>
                <a:cs typeface="Garamond"/>
                <a:sym typeface="Garamond"/>
              </a:rPr>
              <a:t>Navigating a Rising Interest Rate Environment</a:t>
            </a:r>
            <a:endParaRPr b="1">
              <a:latin typeface="Garamond"/>
              <a:ea typeface="Garamond"/>
              <a:cs typeface="Garamond"/>
              <a:sym typeface="Garamond"/>
            </a:endParaRPr>
          </a:p>
        </p:txBody>
      </p:sp>
      <p:cxnSp>
        <p:nvCxnSpPr>
          <p:cNvPr id="199" name="Google Shape;199;p36"/>
          <p:cNvCxnSpPr/>
          <p:nvPr/>
        </p:nvCxnSpPr>
        <p:spPr>
          <a:xfrm>
            <a:off x="2803800" y="874600"/>
            <a:ext cx="3537900" cy="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36"/>
          <p:cNvSpPr txBox="1"/>
          <p:nvPr/>
        </p:nvSpPr>
        <p:spPr>
          <a:xfrm>
            <a:off x="153000" y="938700"/>
            <a:ext cx="8838000" cy="1241100"/>
          </a:xfrm>
          <a:prstGeom prst="rect">
            <a:avLst/>
          </a:prstGeom>
          <a:solidFill>
            <a:srgbClr val="D9D2E9"/>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Garamond"/>
                <a:ea typeface="Garamond"/>
                <a:cs typeface="Garamond"/>
                <a:sym typeface="Garamond"/>
              </a:rPr>
              <a:t>Understand interest rate impact</a:t>
            </a:r>
            <a:r>
              <a:rPr lang="en" sz="1000">
                <a:latin typeface="Garamond"/>
                <a:ea typeface="Garamond"/>
                <a:cs typeface="Garamond"/>
                <a:sym typeface="Garamond"/>
              </a:rPr>
              <a:t>: Explore </a:t>
            </a:r>
            <a:r>
              <a:rPr b="1" lang="en" sz="1000">
                <a:latin typeface="Garamond"/>
                <a:ea typeface="Garamond"/>
                <a:cs typeface="Garamond"/>
                <a:sym typeface="Garamond"/>
              </a:rPr>
              <a:t>how interest rates impact various asset classes</a:t>
            </a:r>
            <a:r>
              <a:rPr lang="en" sz="1000">
                <a:latin typeface="Garamond"/>
                <a:ea typeface="Garamond"/>
                <a:cs typeface="Garamond"/>
                <a:sym typeface="Garamond"/>
              </a:rPr>
              <a:t>. Generally, </a:t>
            </a:r>
            <a:r>
              <a:rPr b="1" lang="en" sz="1000">
                <a:latin typeface="Garamond"/>
                <a:ea typeface="Garamond"/>
                <a:cs typeface="Garamond"/>
                <a:sym typeface="Garamond"/>
              </a:rPr>
              <a:t>bond prices fall </a:t>
            </a:r>
            <a:r>
              <a:rPr lang="en" sz="1000">
                <a:latin typeface="Garamond"/>
                <a:ea typeface="Garamond"/>
                <a:cs typeface="Garamond"/>
                <a:sym typeface="Garamond"/>
              </a:rPr>
              <a:t>as interest rates rise, equities may face valuation and cost of capital challenges, while interest sensitive sectors like real estate and utilities will be adversely affected.</a:t>
            </a:r>
            <a:endParaRPr sz="1000">
              <a:latin typeface="Garamond"/>
              <a:ea typeface="Garamond"/>
              <a:cs typeface="Garamond"/>
              <a:sym typeface="Garamond"/>
            </a:endParaRPr>
          </a:p>
          <a:p>
            <a:pPr indent="0" lvl="0" marL="0" rtl="0" algn="ctr">
              <a:spcBef>
                <a:spcPts val="0"/>
              </a:spcBef>
              <a:spcAft>
                <a:spcPts val="0"/>
              </a:spcAft>
              <a:buNone/>
            </a:pPr>
            <a:r>
              <a:rPr b="1" lang="en" sz="1000">
                <a:latin typeface="Garamond"/>
                <a:ea typeface="Garamond"/>
                <a:cs typeface="Garamond"/>
                <a:sym typeface="Garamond"/>
              </a:rPr>
              <a:t>Build a diversified portfolio</a:t>
            </a:r>
            <a:r>
              <a:rPr lang="en" sz="1000">
                <a:latin typeface="Garamond"/>
                <a:ea typeface="Garamond"/>
                <a:cs typeface="Garamond"/>
                <a:sym typeface="Garamond"/>
              </a:rPr>
              <a:t>: A well diversified portfolio can </a:t>
            </a:r>
            <a:r>
              <a:rPr b="1" lang="en" sz="1000">
                <a:latin typeface="Garamond"/>
                <a:ea typeface="Garamond"/>
                <a:cs typeface="Garamond"/>
                <a:sym typeface="Garamond"/>
              </a:rPr>
              <a:t>help mitigate unsystematic risks</a:t>
            </a:r>
            <a:r>
              <a:rPr lang="en" sz="1000">
                <a:latin typeface="Garamond"/>
                <a:ea typeface="Garamond"/>
                <a:cs typeface="Garamond"/>
                <a:sym typeface="Garamond"/>
              </a:rPr>
              <a:t> associated with rising interest rates. Incorporating a mix of asset classes including commodities may offer a degree of protection against adverse market movements.</a:t>
            </a:r>
            <a:endParaRPr sz="1000">
              <a:latin typeface="Garamond"/>
              <a:ea typeface="Garamond"/>
              <a:cs typeface="Garamond"/>
              <a:sym typeface="Garamond"/>
            </a:endParaRPr>
          </a:p>
          <a:p>
            <a:pPr indent="0" lvl="0" marL="0" rtl="0" algn="ctr">
              <a:spcBef>
                <a:spcPts val="0"/>
              </a:spcBef>
              <a:spcAft>
                <a:spcPts val="0"/>
              </a:spcAft>
              <a:buNone/>
            </a:pPr>
            <a:r>
              <a:rPr b="1" lang="en" sz="1000">
                <a:latin typeface="Garamond"/>
                <a:ea typeface="Garamond"/>
                <a:cs typeface="Garamond"/>
                <a:sym typeface="Garamond"/>
              </a:rPr>
              <a:t>Stay informed on market news</a:t>
            </a:r>
            <a:r>
              <a:rPr lang="en" sz="1000">
                <a:latin typeface="Garamond"/>
                <a:ea typeface="Garamond"/>
                <a:cs typeface="Garamond"/>
                <a:sym typeface="Garamond"/>
              </a:rPr>
              <a:t>: Stay updated with market news and likely changes in interest rates. For instance, signs like low inflation, slow economic growth and high unemployment rates may hint at a series of rate cuts. By </a:t>
            </a:r>
            <a:r>
              <a:rPr b="1" lang="en" sz="1000">
                <a:latin typeface="Garamond"/>
                <a:ea typeface="Garamond"/>
                <a:cs typeface="Garamond"/>
                <a:sym typeface="Garamond"/>
              </a:rPr>
              <a:t>closely following global interest rates</a:t>
            </a:r>
            <a:r>
              <a:rPr lang="en" sz="1000">
                <a:latin typeface="Garamond"/>
                <a:ea typeface="Garamond"/>
                <a:cs typeface="Garamond"/>
                <a:sym typeface="Garamond"/>
              </a:rPr>
              <a:t>, updates from global central banks and the Monetary Authority of Singapore (MAS), retail investors could gain by correctly spotting trends and </a:t>
            </a:r>
            <a:r>
              <a:rPr b="1" lang="en" sz="1000">
                <a:latin typeface="Garamond"/>
                <a:ea typeface="Garamond"/>
                <a:cs typeface="Garamond"/>
                <a:sym typeface="Garamond"/>
              </a:rPr>
              <a:t>adjusting their portfolios accordingly</a:t>
            </a:r>
            <a:r>
              <a:rPr lang="en" sz="1000">
                <a:latin typeface="Garamond"/>
                <a:ea typeface="Garamond"/>
                <a:cs typeface="Garamond"/>
                <a:sym typeface="Garamond"/>
              </a:rPr>
              <a:t>.</a:t>
            </a:r>
            <a:endParaRPr sz="1000">
              <a:latin typeface="Garamond"/>
              <a:ea typeface="Garamond"/>
              <a:cs typeface="Garamond"/>
              <a:sym typeface="Garamond"/>
            </a:endParaRPr>
          </a:p>
          <a:p>
            <a:pPr indent="0" lvl="0" marL="0" rtl="0" algn="ctr">
              <a:spcBef>
                <a:spcPts val="0"/>
              </a:spcBef>
              <a:spcAft>
                <a:spcPts val="0"/>
              </a:spcAft>
              <a:buNone/>
            </a:pPr>
            <a:r>
              <a:t/>
            </a:r>
            <a:endParaRPr sz="1000">
              <a:latin typeface="Garamond"/>
              <a:ea typeface="Garamond"/>
              <a:cs typeface="Garamond"/>
              <a:sym typeface="Garamond"/>
            </a:endParaRPr>
          </a:p>
          <a:p>
            <a:pPr indent="0" lvl="0" marL="0" rtl="0" algn="ctr">
              <a:spcBef>
                <a:spcPts val="0"/>
              </a:spcBef>
              <a:spcAft>
                <a:spcPts val="0"/>
              </a:spcAft>
              <a:buNone/>
            </a:pPr>
            <a:r>
              <a:t/>
            </a:r>
            <a:endParaRPr sz="1000">
              <a:solidFill>
                <a:schemeClr val="dk1"/>
              </a:solidFill>
              <a:latin typeface="Garamond"/>
              <a:ea typeface="Garamond"/>
              <a:cs typeface="Garamond"/>
              <a:sym typeface="Garamond"/>
            </a:endParaRPr>
          </a:p>
        </p:txBody>
      </p:sp>
      <p:sp>
        <p:nvSpPr>
          <p:cNvPr id="201" name="Google Shape;201;p36"/>
          <p:cNvSpPr txBox="1"/>
          <p:nvPr/>
        </p:nvSpPr>
        <p:spPr>
          <a:xfrm>
            <a:off x="1965300" y="2179800"/>
            <a:ext cx="52134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Garamond"/>
                <a:ea typeface="Garamond"/>
                <a:cs typeface="Garamond"/>
                <a:sym typeface="Garamond"/>
              </a:rPr>
              <a:t>Investment Recommendations</a:t>
            </a:r>
            <a:endParaRPr b="1">
              <a:latin typeface="Garamond"/>
              <a:ea typeface="Garamond"/>
              <a:cs typeface="Garamond"/>
              <a:sym typeface="Garamond"/>
            </a:endParaRPr>
          </a:p>
        </p:txBody>
      </p:sp>
      <p:cxnSp>
        <p:nvCxnSpPr>
          <p:cNvPr id="202" name="Google Shape;202;p36"/>
          <p:cNvCxnSpPr/>
          <p:nvPr/>
        </p:nvCxnSpPr>
        <p:spPr>
          <a:xfrm>
            <a:off x="3418350" y="2507375"/>
            <a:ext cx="2308800" cy="0"/>
          </a:xfrm>
          <a:prstGeom prst="straightConnector1">
            <a:avLst/>
          </a:prstGeom>
          <a:noFill/>
          <a:ln cap="flat" cmpd="sng" w="9525">
            <a:solidFill>
              <a:schemeClr val="dk2"/>
            </a:solidFill>
            <a:prstDash val="solid"/>
            <a:round/>
            <a:headEnd len="med" w="med" type="none"/>
            <a:tailEnd len="med" w="med" type="none"/>
          </a:ln>
        </p:spPr>
      </p:cxnSp>
      <p:sp>
        <p:nvSpPr>
          <p:cNvPr id="203" name="Google Shape;203;p36"/>
          <p:cNvSpPr/>
          <p:nvPr/>
        </p:nvSpPr>
        <p:spPr>
          <a:xfrm>
            <a:off x="175613" y="2762700"/>
            <a:ext cx="1592700" cy="283800"/>
          </a:xfrm>
          <a:prstGeom prst="rect">
            <a:avLst/>
          </a:prstGeom>
          <a:solidFill>
            <a:srgbClr val="51067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Garamond"/>
                <a:ea typeface="Garamond"/>
                <a:cs typeface="Garamond"/>
                <a:sym typeface="Garamond"/>
              </a:rPr>
              <a:t>Short-Term Bonds</a:t>
            </a:r>
            <a:endParaRPr b="1" sz="1200">
              <a:solidFill>
                <a:schemeClr val="lt1"/>
              </a:solidFill>
              <a:latin typeface="Garamond"/>
              <a:ea typeface="Garamond"/>
              <a:cs typeface="Garamond"/>
              <a:sym typeface="Garamond"/>
            </a:endParaRPr>
          </a:p>
        </p:txBody>
      </p:sp>
      <p:sp>
        <p:nvSpPr>
          <p:cNvPr id="204" name="Google Shape;204;p36"/>
          <p:cNvSpPr/>
          <p:nvPr/>
        </p:nvSpPr>
        <p:spPr>
          <a:xfrm>
            <a:off x="175613" y="3046303"/>
            <a:ext cx="1592700" cy="1673100"/>
          </a:xfrm>
          <a:prstGeom prst="rect">
            <a:avLst/>
          </a:prstGeom>
          <a:solidFill>
            <a:srgbClr val="D9D2E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Garamond"/>
                <a:ea typeface="Garamond"/>
                <a:cs typeface="Garamond"/>
                <a:sym typeface="Garamond"/>
              </a:rPr>
              <a:t>Opting for short-term maturity bonds that are </a:t>
            </a:r>
            <a:r>
              <a:rPr b="1" lang="en" sz="1000">
                <a:latin typeface="Garamond"/>
                <a:ea typeface="Garamond"/>
                <a:cs typeface="Garamond"/>
                <a:sym typeface="Garamond"/>
              </a:rPr>
              <a:t>less affected by rate changes</a:t>
            </a:r>
            <a:r>
              <a:rPr lang="en" sz="1000">
                <a:latin typeface="Garamond"/>
                <a:ea typeface="Garamond"/>
                <a:cs typeface="Garamond"/>
                <a:sym typeface="Garamond"/>
              </a:rPr>
              <a:t> or purchasing bonds with coupon rates that </a:t>
            </a:r>
            <a:r>
              <a:rPr b="1" lang="en" sz="1000">
                <a:latin typeface="Garamond"/>
                <a:ea typeface="Garamond"/>
                <a:cs typeface="Garamond"/>
                <a:sym typeface="Garamond"/>
              </a:rPr>
              <a:t>adjust alongside market rates</a:t>
            </a:r>
            <a:r>
              <a:rPr lang="en" sz="1000">
                <a:latin typeface="Garamond"/>
                <a:ea typeface="Garamond"/>
                <a:cs typeface="Garamond"/>
                <a:sym typeface="Garamond"/>
              </a:rPr>
              <a:t>.</a:t>
            </a:r>
            <a:endParaRPr sz="1000">
              <a:latin typeface="Garamond"/>
              <a:ea typeface="Garamond"/>
              <a:cs typeface="Garamond"/>
              <a:sym typeface="Garamond"/>
            </a:endParaRPr>
          </a:p>
        </p:txBody>
      </p:sp>
      <p:sp>
        <p:nvSpPr>
          <p:cNvPr id="205" name="Google Shape;205;p36"/>
          <p:cNvSpPr/>
          <p:nvPr/>
        </p:nvSpPr>
        <p:spPr>
          <a:xfrm>
            <a:off x="1929744" y="2762700"/>
            <a:ext cx="1641000" cy="288000"/>
          </a:xfrm>
          <a:prstGeom prst="rect">
            <a:avLst/>
          </a:prstGeom>
          <a:solidFill>
            <a:srgbClr val="51067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Garamond"/>
                <a:ea typeface="Garamond"/>
                <a:cs typeface="Garamond"/>
                <a:sym typeface="Garamond"/>
              </a:rPr>
              <a:t>Banks and Brokerages</a:t>
            </a:r>
            <a:endParaRPr b="1" sz="1200">
              <a:solidFill>
                <a:schemeClr val="lt1"/>
              </a:solidFill>
              <a:latin typeface="Garamond"/>
              <a:ea typeface="Garamond"/>
              <a:cs typeface="Garamond"/>
              <a:sym typeface="Garamond"/>
            </a:endParaRPr>
          </a:p>
        </p:txBody>
      </p:sp>
      <p:sp>
        <p:nvSpPr>
          <p:cNvPr id="206" name="Google Shape;206;p36"/>
          <p:cNvSpPr/>
          <p:nvPr/>
        </p:nvSpPr>
        <p:spPr>
          <a:xfrm>
            <a:off x="1929744" y="3050700"/>
            <a:ext cx="1641000" cy="1670400"/>
          </a:xfrm>
          <a:prstGeom prst="rect">
            <a:avLst/>
          </a:prstGeom>
          <a:solidFill>
            <a:srgbClr val="D9D2E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Garamond"/>
                <a:ea typeface="Garamond"/>
                <a:cs typeface="Garamond"/>
                <a:sym typeface="Garamond"/>
              </a:rPr>
              <a:t>Higher interest rates boost earnings for banks and brokerages </a:t>
            </a:r>
            <a:r>
              <a:rPr b="1" lang="en" sz="1000">
                <a:latin typeface="Garamond"/>
                <a:ea typeface="Garamond"/>
                <a:cs typeface="Garamond"/>
                <a:sym typeface="Garamond"/>
              </a:rPr>
              <a:t>through increased interest income</a:t>
            </a:r>
            <a:r>
              <a:rPr lang="en" sz="1000">
                <a:latin typeface="Garamond"/>
                <a:ea typeface="Garamond"/>
                <a:cs typeface="Garamond"/>
                <a:sym typeface="Garamond"/>
              </a:rPr>
              <a:t>, in an environment where credit is not readily available.  </a:t>
            </a:r>
            <a:endParaRPr sz="1000">
              <a:latin typeface="Garamond"/>
              <a:ea typeface="Garamond"/>
              <a:cs typeface="Garamond"/>
              <a:sym typeface="Garamond"/>
            </a:endParaRPr>
          </a:p>
        </p:txBody>
      </p:sp>
      <p:sp>
        <p:nvSpPr>
          <p:cNvPr id="207" name="Google Shape;207;p36"/>
          <p:cNvSpPr/>
          <p:nvPr/>
        </p:nvSpPr>
        <p:spPr>
          <a:xfrm>
            <a:off x="7337038" y="2762700"/>
            <a:ext cx="1641000" cy="288000"/>
          </a:xfrm>
          <a:prstGeom prst="rect">
            <a:avLst/>
          </a:prstGeom>
          <a:solidFill>
            <a:srgbClr val="51067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Garamond"/>
                <a:ea typeface="Garamond"/>
                <a:cs typeface="Garamond"/>
                <a:sym typeface="Garamond"/>
              </a:rPr>
              <a:t>Value Stocks</a:t>
            </a:r>
            <a:endParaRPr b="1" sz="1200">
              <a:solidFill>
                <a:schemeClr val="lt1"/>
              </a:solidFill>
              <a:latin typeface="Garamond"/>
              <a:ea typeface="Garamond"/>
              <a:cs typeface="Garamond"/>
              <a:sym typeface="Garamond"/>
            </a:endParaRPr>
          </a:p>
        </p:txBody>
      </p:sp>
      <p:sp>
        <p:nvSpPr>
          <p:cNvPr id="208" name="Google Shape;208;p36"/>
          <p:cNvSpPr/>
          <p:nvPr/>
        </p:nvSpPr>
        <p:spPr>
          <a:xfrm>
            <a:off x="7337038" y="3050700"/>
            <a:ext cx="1641000" cy="1670400"/>
          </a:xfrm>
          <a:prstGeom prst="rect">
            <a:avLst/>
          </a:prstGeom>
          <a:solidFill>
            <a:srgbClr val="D9D2E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latin typeface="Garamond"/>
                <a:ea typeface="Garamond"/>
                <a:cs typeface="Garamond"/>
                <a:sym typeface="Garamond"/>
              </a:rPr>
              <a:t>Value stocks are </a:t>
            </a:r>
            <a:r>
              <a:rPr b="1" lang="en" sz="1000">
                <a:latin typeface="Garamond"/>
                <a:ea typeface="Garamond"/>
                <a:cs typeface="Garamond"/>
                <a:sym typeface="Garamond"/>
              </a:rPr>
              <a:t>less affected</a:t>
            </a:r>
            <a:r>
              <a:rPr lang="en" sz="1000">
                <a:latin typeface="Garamond"/>
                <a:ea typeface="Garamond"/>
                <a:cs typeface="Garamond"/>
                <a:sym typeface="Garamond"/>
              </a:rPr>
              <a:t> by rate hikes compared to growth stocks, they also </a:t>
            </a:r>
            <a:r>
              <a:rPr b="1" lang="en" sz="1000">
                <a:latin typeface="Garamond"/>
                <a:ea typeface="Garamond"/>
                <a:cs typeface="Garamond"/>
                <a:sym typeface="Garamond"/>
              </a:rPr>
              <a:t>rely less on borrowing</a:t>
            </a:r>
            <a:r>
              <a:rPr lang="en" sz="1000">
                <a:latin typeface="Garamond"/>
                <a:ea typeface="Garamond"/>
                <a:cs typeface="Garamond"/>
                <a:sym typeface="Garamond"/>
              </a:rPr>
              <a:t>. Generally, value stocks are </a:t>
            </a:r>
            <a:r>
              <a:rPr b="1" lang="en" sz="1000">
                <a:latin typeface="Garamond"/>
                <a:ea typeface="Garamond"/>
                <a:cs typeface="Garamond"/>
                <a:sym typeface="Garamond"/>
              </a:rPr>
              <a:t>more stable</a:t>
            </a:r>
            <a:r>
              <a:rPr lang="en" sz="1000">
                <a:latin typeface="Garamond"/>
                <a:ea typeface="Garamond"/>
                <a:cs typeface="Garamond"/>
                <a:sym typeface="Garamond"/>
              </a:rPr>
              <a:t> in higher interest rates environments.</a:t>
            </a:r>
            <a:endParaRPr sz="1000">
              <a:latin typeface="Garamond"/>
              <a:ea typeface="Garamond"/>
              <a:cs typeface="Garamond"/>
              <a:sym typeface="Garamond"/>
            </a:endParaRPr>
          </a:p>
          <a:p>
            <a:pPr indent="0" lvl="0" marL="0" rtl="0" algn="ctr">
              <a:spcBef>
                <a:spcPts val="0"/>
              </a:spcBef>
              <a:spcAft>
                <a:spcPts val="0"/>
              </a:spcAft>
              <a:buNone/>
            </a:pPr>
            <a:r>
              <a:rPr lang="en" sz="1000">
                <a:latin typeface="Garamond"/>
                <a:ea typeface="Garamond"/>
                <a:cs typeface="Garamond"/>
                <a:sym typeface="Garamond"/>
              </a:rPr>
              <a:t> </a:t>
            </a:r>
            <a:endParaRPr sz="1000">
              <a:latin typeface="Garamond"/>
              <a:ea typeface="Garamond"/>
              <a:cs typeface="Garamond"/>
              <a:sym typeface="Garamond"/>
            </a:endParaRPr>
          </a:p>
        </p:txBody>
      </p:sp>
      <p:sp>
        <p:nvSpPr>
          <p:cNvPr id="209" name="Google Shape;209;p36"/>
          <p:cNvSpPr/>
          <p:nvPr/>
        </p:nvSpPr>
        <p:spPr>
          <a:xfrm>
            <a:off x="3732175" y="2762700"/>
            <a:ext cx="1641000" cy="288000"/>
          </a:xfrm>
          <a:prstGeom prst="rect">
            <a:avLst/>
          </a:prstGeom>
          <a:solidFill>
            <a:srgbClr val="51067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Garamond"/>
                <a:ea typeface="Garamond"/>
                <a:cs typeface="Garamond"/>
                <a:sym typeface="Garamond"/>
              </a:rPr>
              <a:t>Cash Rich Companies</a:t>
            </a:r>
            <a:endParaRPr b="1" sz="1200">
              <a:solidFill>
                <a:schemeClr val="lt1"/>
              </a:solidFill>
              <a:latin typeface="Garamond"/>
              <a:ea typeface="Garamond"/>
              <a:cs typeface="Garamond"/>
              <a:sym typeface="Garamond"/>
            </a:endParaRPr>
          </a:p>
        </p:txBody>
      </p:sp>
      <p:sp>
        <p:nvSpPr>
          <p:cNvPr id="210" name="Google Shape;210;p36"/>
          <p:cNvSpPr/>
          <p:nvPr/>
        </p:nvSpPr>
        <p:spPr>
          <a:xfrm>
            <a:off x="3732175" y="3050700"/>
            <a:ext cx="1641000" cy="1670400"/>
          </a:xfrm>
          <a:prstGeom prst="rect">
            <a:avLst/>
          </a:prstGeom>
          <a:solidFill>
            <a:srgbClr val="D9D2E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Garamond"/>
                <a:ea typeface="Garamond"/>
                <a:cs typeface="Garamond"/>
                <a:sym typeface="Garamond"/>
              </a:rPr>
              <a:t>Cash-rich companies, especially large and mature ones benefit from rising rates as they earn more on their reserves, consider companies with </a:t>
            </a:r>
            <a:r>
              <a:rPr b="1" lang="en" sz="1000">
                <a:solidFill>
                  <a:schemeClr val="dk1"/>
                </a:solidFill>
                <a:latin typeface="Garamond"/>
                <a:ea typeface="Garamond"/>
                <a:cs typeface="Garamond"/>
                <a:sym typeface="Garamond"/>
              </a:rPr>
              <a:t>low debt-to-equity ratios</a:t>
            </a:r>
            <a:r>
              <a:rPr lang="en" sz="1000">
                <a:solidFill>
                  <a:schemeClr val="dk1"/>
                </a:solidFill>
                <a:latin typeface="Garamond"/>
                <a:ea typeface="Garamond"/>
                <a:cs typeface="Garamond"/>
                <a:sym typeface="Garamond"/>
              </a:rPr>
              <a:t> or substantial cash holdings for potential benefits in such environment.</a:t>
            </a:r>
            <a:r>
              <a:rPr lang="en" sz="1000">
                <a:latin typeface="Garamond"/>
                <a:ea typeface="Garamond"/>
                <a:cs typeface="Garamond"/>
                <a:sym typeface="Garamond"/>
              </a:rPr>
              <a:t>  </a:t>
            </a:r>
            <a:endParaRPr sz="1000">
              <a:latin typeface="Garamond"/>
              <a:ea typeface="Garamond"/>
              <a:cs typeface="Garamond"/>
              <a:sym typeface="Garamond"/>
            </a:endParaRPr>
          </a:p>
        </p:txBody>
      </p:sp>
      <p:sp>
        <p:nvSpPr>
          <p:cNvPr id="211" name="Google Shape;211;p36"/>
          <p:cNvSpPr/>
          <p:nvPr/>
        </p:nvSpPr>
        <p:spPr>
          <a:xfrm>
            <a:off x="5534606" y="2762700"/>
            <a:ext cx="1641000" cy="288000"/>
          </a:xfrm>
          <a:prstGeom prst="rect">
            <a:avLst/>
          </a:prstGeom>
          <a:solidFill>
            <a:srgbClr val="51067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Garamond"/>
                <a:ea typeface="Garamond"/>
                <a:cs typeface="Garamond"/>
                <a:sym typeface="Garamond"/>
              </a:rPr>
              <a:t>Singapore-REITs</a:t>
            </a:r>
            <a:endParaRPr b="1" sz="1200">
              <a:solidFill>
                <a:schemeClr val="lt1"/>
              </a:solidFill>
              <a:latin typeface="Garamond"/>
              <a:ea typeface="Garamond"/>
              <a:cs typeface="Garamond"/>
              <a:sym typeface="Garamond"/>
            </a:endParaRPr>
          </a:p>
        </p:txBody>
      </p:sp>
      <p:sp>
        <p:nvSpPr>
          <p:cNvPr id="212" name="Google Shape;212;p36"/>
          <p:cNvSpPr/>
          <p:nvPr/>
        </p:nvSpPr>
        <p:spPr>
          <a:xfrm>
            <a:off x="5534619" y="3050700"/>
            <a:ext cx="1641000" cy="1670400"/>
          </a:xfrm>
          <a:prstGeom prst="rect">
            <a:avLst/>
          </a:prstGeom>
          <a:solidFill>
            <a:srgbClr val="D9D2E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Garamond"/>
                <a:ea typeface="Garamond"/>
                <a:cs typeface="Garamond"/>
                <a:sym typeface="Garamond"/>
              </a:rPr>
              <a:t>Some S-Reits are now trading at </a:t>
            </a:r>
            <a:r>
              <a:rPr b="1" lang="en" sz="1000">
                <a:latin typeface="Garamond"/>
                <a:ea typeface="Garamond"/>
                <a:cs typeface="Garamond"/>
                <a:sym typeface="Garamond"/>
              </a:rPr>
              <a:t>valuations close to a ten-year low.</a:t>
            </a:r>
            <a:r>
              <a:rPr lang="en" sz="1000">
                <a:latin typeface="Garamond"/>
                <a:ea typeface="Garamond"/>
                <a:cs typeface="Garamond"/>
                <a:sym typeface="Garamond"/>
              </a:rPr>
              <a:t> S-Reits with stable earnings </a:t>
            </a:r>
            <a:r>
              <a:rPr b="1" lang="en" sz="1000">
                <a:latin typeface="Garamond"/>
                <a:ea typeface="Garamond"/>
                <a:cs typeface="Garamond"/>
                <a:sym typeface="Garamond"/>
              </a:rPr>
              <a:t>could be undervalued</a:t>
            </a:r>
            <a:r>
              <a:rPr lang="en" sz="1000">
                <a:latin typeface="Garamond"/>
                <a:ea typeface="Garamond"/>
                <a:cs typeface="Garamond"/>
                <a:sym typeface="Garamond"/>
              </a:rPr>
              <a:t> and present investment opportunities, anticipating a potential appreciation in prices when the rate hike cycle ends.</a:t>
            </a:r>
            <a:endParaRPr sz="1000">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nvSpPr>
        <p:spPr>
          <a:xfrm>
            <a:off x="3661050" y="2325450"/>
            <a:ext cx="18219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latin typeface="Garamond"/>
                <a:ea typeface="Garamond"/>
                <a:cs typeface="Garamond"/>
                <a:sym typeface="Garamond"/>
              </a:rPr>
              <a:t>Thank You!</a:t>
            </a:r>
            <a:endParaRPr b="1" sz="2400">
              <a:latin typeface="Garamond"/>
              <a:ea typeface="Garamond"/>
              <a:cs typeface="Garamond"/>
              <a:sym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idx="4294967295" type="title"/>
          </p:nvPr>
        </p:nvSpPr>
        <p:spPr>
          <a:xfrm>
            <a:off x="1049250" y="2285400"/>
            <a:ext cx="704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DFE8E5"/>
                </a:solidFill>
                <a:latin typeface="Cambria"/>
                <a:ea typeface="Cambria"/>
                <a:cs typeface="Cambria"/>
                <a:sym typeface="Cambria"/>
              </a:rPr>
              <a:t>03   </a:t>
            </a:r>
            <a:endParaRPr sz="3020">
              <a:solidFill>
                <a:srgbClr val="DFE8E5"/>
              </a:solidFill>
              <a:latin typeface="Cambria"/>
              <a:ea typeface="Cambria"/>
              <a:cs typeface="Cambria"/>
              <a:sym typeface="Cambria"/>
            </a:endParaRPr>
          </a:p>
        </p:txBody>
      </p:sp>
      <p:cxnSp>
        <p:nvCxnSpPr>
          <p:cNvPr id="223" name="Google Shape;223;p38"/>
          <p:cNvCxnSpPr/>
          <p:nvPr/>
        </p:nvCxnSpPr>
        <p:spPr>
          <a:xfrm>
            <a:off x="1846800" y="2895250"/>
            <a:ext cx="5934600" cy="900"/>
          </a:xfrm>
          <a:prstGeom prst="straightConnector1">
            <a:avLst/>
          </a:prstGeom>
          <a:noFill/>
          <a:ln cap="flat" cmpd="sng" w="9525">
            <a:solidFill>
              <a:srgbClr val="DFE8E5"/>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9"/>
          <p:cNvSpPr txBox="1"/>
          <p:nvPr>
            <p:ph idx="4294967295" type="title"/>
          </p:nvPr>
        </p:nvSpPr>
        <p:spPr>
          <a:xfrm>
            <a:off x="1900350" y="2285400"/>
            <a:ext cx="534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DFE8E5"/>
                </a:solidFill>
                <a:latin typeface="Cambria"/>
                <a:ea typeface="Cambria"/>
                <a:cs typeface="Cambria"/>
                <a:sym typeface="Cambria"/>
              </a:rPr>
              <a:t>04   </a:t>
            </a:r>
            <a:endParaRPr sz="3020">
              <a:solidFill>
                <a:srgbClr val="DFE8E5"/>
              </a:solidFill>
              <a:latin typeface="Cambria"/>
              <a:ea typeface="Cambria"/>
              <a:cs typeface="Cambria"/>
              <a:sym typeface="Cambria"/>
            </a:endParaRPr>
          </a:p>
        </p:txBody>
      </p:sp>
      <p:cxnSp>
        <p:nvCxnSpPr>
          <p:cNvPr id="229" name="Google Shape;229;p39"/>
          <p:cNvCxnSpPr/>
          <p:nvPr/>
        </p:nvCxnSpPr>
        <p:spPr>
          <a:xfrm>
            <a:off x="2701425" y="2896075"/>
            <a:ext cx="4272900" cy="9600"/>
          </a:xfrm>
          <a:prstGeom prst="straightConnector1">
            <a:avLst/>
          </a:prstGeom>
          <a:noFill/>
          <a:ln cap="flat" cmpd="sng" w="9525">
            <a:solidFill>
              <a:srgbClr val="DFE8E5"/>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0"/>
          <p:cNvSpPr txBox="1"/>
          <p:nvPr/>
        </p:nvSpPr>
        <p:spPr>
          <a:xfrm>
            <a:off x="3558900" y="2248500"/>
            <a:ext cx="2026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306E71"/>
                </a:solidFill>
                <a:latin typeface="Cambria"/>
                <a:ea typeface="Cambria"/>
                <a:cs typeface="Cambria"/>
                <a:sym typeface="Cambria"/>
              </a:rPr>
              <a:t>Thank you </a:t>
            </a:r>
            <a:endParaRPr sz="3000">
              <a:solidFill>
                <a:srgbClr val="306E7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